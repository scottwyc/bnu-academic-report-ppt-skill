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C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nu_wordmark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00584"/>
            <a:ext cx="2414016" cy="542911"/>
          </a:xfrm>
          <a:prstGeom prst="rect">
            <a:avLst/>
          </a:prstGeom>
        </p:spPr>
      </p:pic>
      <p:pic>
        <p:nvPicPr>
          <p:cNvPr id="4" name="Picture 3" descr="sss_bn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6840" y="173736"/>
            <a:ext cx="2633472" cy="41309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3232" y="1261872"/>
            <a:ext cx="10716768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850" b="1">
                <a:solidFill>
                  <a:srgbClr val="1C345B"/>
                </a:solidFill>
                <a:latin typeface="Microsoft YaHei"/>
                <a:ea typeface="Microsoft YaHei"/>
                <a:cs typeface="Microsoft YaHei"/>
              </a:rPr>
              <a:t>使用大语言模型与概念图预测材料科学新研究方向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993392"/>
            <a:ext cx="10716768" cy="34747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80" b="0">
                <a:solidFill>
                  <a:srgbClr val="355D9D"/>
                </a:solidFill>
                <a:latin typeface="Microsoft YaHei"/>
                <a:ea typeface="Microsoft YaHei"/>
                <a:cs typeface="Microsoft YaHei"/>
              </a:rPr>
              <a:t>Predicting new research directions in materials science using large language models and concept graphs</a:t>
            </a:r>
          </a:p>
        </p:txBody>
      </p:sp>
      <p:sp>
        <p:nvSpPr>
          <p:cNvPr id="7" name="Rectangle 6"/>
          <p:cNvSpPr/>
          <p:nvPr/>
        </p:nvSpPr>
        <p:spPr>
          <a:xfrm>
            <a:off x="749808" y="2578608"/>
            <a:ext cx="5806440" cy="41148"/>
          </a:xfrm>
          <a:prstGeom prst="rect">
            <a:avLst/>
          </a:prstGeom>
          <a:solidFill>
            <a:srgbClr val="F0C9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926080"/>
            <a:ext cx="5440680" cy="16459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20" b="0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• 论文把“新方向”变成未来概念边预测</a:t>
            </a:r>
          </a:p>
          <a:p>
            <a:pPr>
              <a:spcAft>
                <a:spcPts val="400"/>
              </a:spcAft>
            </a:pPr>
            <a:r>
              <a:rPr sz="1320" b="1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• 论文：</a:t>
            </a:r>
            <a:r>
              <a:rPr sz="1320" b="0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Marwitz et al., Nature Machine Intelligence, 2026-04-01</a:t>
            </a:r>
          </a:p>
          <a:p>
            <a:pPr>
              <a:spcAft>
                <a:spcPts val="400"/>
              </a:spcAft>
            </a:pPr>
            <a:r>
              <a:rPr sz="1320" b="1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• DOI：</a:t>
            </a:r>
            <a:r>
              <a:rPr sz="1320" b="0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10.1038/s42256-026-01206-y</a:t>
            </a:r>
          </a:p>
          <a:p>
            <a:pPr>
              <a:spcAft>
                <a:spcPts val="400"/>
              </a:spcAft>
            </a:pPr>
            <a:r>
              <a:rPr sz="1320" b="1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• 核心对象：</a:t>
            </a:r>
            <a:r>
              <a:rPr sz="1320" b="0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材料科学摘要中的概念、概念共现边、未来新边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5257800"/>
            <a:ext cx="4754880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420" b="1">
                <a:solidFill>
                  <a:srgbClr val="1C345B"/>
                </a:solidFill>
                <a:latin typeface="Microsoft YaHei"/>
                <a:ea typeface="Microsoft YaHei"/>
                <a:cs typeface="Microsoft YaHei"/>
              </a:rPr>
              <a:t>汇报人：XXX</a:t>
            </a:r>
          </a:p>
        </p:txBody>
      </p:sp>
      <p:pic>
        <p:nvPicPr>
          <p:cNvPr id="10" name="Picture 9" descr="extended_data_fig4_cover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3295447"/>
            <a:ext cx="5440680" cy="1327809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355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384280" y="6473952"/>
            <a:ext cx="384048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800" b="0">
                <a:solidFill>
                  <a:srgbClr val="636B74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1C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65376" cy="475488"/>
          </a:xfrm>
          <a:prstGeom prst="rect">
            <a:avLst/>
          </a:prstGeom>
          <a:solidFill>
            <a:srgbClr val="1C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nu_wordmark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1627632" cy="36605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65376" y="0"/>
            <a:ext cx="2065263" cy="475488"/>
          </a:xfrm>
          <a:prstGeom prst="rect">
            <a:avLst/>
          </a:prstGeom>
          <a:solidFill>
            <a:srgbClr val="F0C9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65376" y="100584"/>
            <a:ext cx="2065263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50" b="1">
                <a:solidFill>
                  <a:srgbClr val="1C345B"/>
                </a:solidFill>
                <a:latin typeface="Microsoft YaHei"/>
                <a:ea typeface="Microsoft YaHei"/>
                <a:cs typeface="Microsoft YaHei"/>
              </a:rPr>
              <a:t>绪论背景</a:t>
            </a:r>
          </a:p>
        </p:txBody>
      </p:sp>
      <p:sp>
        <p:nvSpPr>
          <p:cNvPr id="7" name="Rectangle 6"/>
          <p:cNvSpPr/>
          <p:nvPr/>
        </p:nvSpPr>
        <p:spPr>
          <a:xfrm>
            <a:off x="3930639" y="0"/>
            <a:ext cx="2065263" cy="475488"/>
          </a:xfrm>
          <a:prstGeom prst="rect">
            <a:avLst/>
          </a:prstGeom>
          <a:solidFill>
            <a:srgbClr val="1C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30639" y="100584"/>
            <a:ext cx="2065263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方法框架</a:t>
            </a:r>
          </a:p>
        </p:txBody>
      </p:sp>
      <p:sp>
        <p:nvSpPr>
          <p:cNvPr id="9" name="Rectangle 8"/>
          <p:cNvSpPr/>
          <p:nvPr/>
        </p:nvSpPr>
        <p:spPr>
          <a:xfrm>
            <a:off x="3930639" y="146304"/>
            <a:ext cx="5486" cy="182880"/>
          </a:xfrm>
          <a:prstGeom prst="rect">
            <a:avLst/>
          </a:prstGeom>
          <a:solidFill>
            <a:srgbClr val="D2D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95903" y="0"/>
            <a:ext cx="2065263" cy="475488"/>
          </a:xfrm>
          <a:prstGeom prst="rect">
            <a:avLst/>
          </a:prstGeom>
          <a:solidFill>
            <a:srgbClr val="1C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95903" y="100584"/>
            <a:ext cx="2065263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主要结果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95903" y="146304"/>
            <a:ext cx="5486" cy="182880"/>
          </a:xfrm>
          <a:prstGeom prst="rect">
            <a:avLst/>
          </a:prstGeom>
          <a:solidFill>
            <a:srgbClr val="D2D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61167" y="0"/>
            <a:ext cx="2065263" cy="475488"/>
          </a:xfrm>
          <a:prstGeom prst="rect">
            <a:avLst/>
          </a:prstGeom>
          <a:solidFill>
            <a:srgbClr val="1C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61167" y="100584"/>
            <a:ext cx="2065263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总结展望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61167" y="146304"/>
            <a:ext cx="5486" cy="182880"/>
          </a:xfrm>
          <a:prstGeom prst="rect">
            <a:avLst/>
          </a:prstGeom>
          <a:solidFill>
            <a:srgbClr val="D2D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126431" y="0"/>
            <a:ext cx="2065263" cy="475488"/>
          </a:xfrm>
          <a:prstGeom prst="rect">
            <a:avLst/>
          </a:prstGeom>
          <a:solidFill>
            <a:srgbClr val="1C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126431" y="100584"/>
            <a:ext cx="2065263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细节补充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126431" y="146304"/>
            <a:ext cx="5486" cy="182880"/>
          </a:xfrm>
          <a:prstGeom prst="rect">
            <a:avLst/>
          </a:prstGeom>
          <a:solidFill>
            <a:srgbClr val="D2D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475488"/>
            <a:ext cx="12191695" cy="292608"/>
          </a:xfrm>
          <a:prstGeom prst="rect">
            <a:avLst/>
          </a:prstGeom>
          <a:solidFill>
            <a:srgbClr val="355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865376" y="475488"/>
            <a:ext cx="3442106" cy="292608"/>
          </a:xfrm>
          <a:prstGeom prst="rect">
            <a:avLst/>
          </a:prstGeom>
          <a:solidFill>
            <a:srgbClr val="5785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65376" y="525780"/>
            <a:ext cx="3442106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8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1.作者简介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07482" y="539496"/>
            <a:ext cx="3657" cy="164592"/>
          </a:xfrm>
          <a:prstGeom prst="rect">
            <a:avLst/>
          </a:prstGeom>
          <a:solidFill>
            <a:srgbClr val="85A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7482" y="525780"/>
            <a:ext cx="3442106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8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2.历史脉络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749588" y="539496"/>
            <a:ext cx="3657" cy="164592"/>
          </a:xfrm>
          <a:prstGeom prst="rect">
            <a:avLst/>
          </a:prstGeom>
          <a:solidFill>
            <a:srgbClr val="85A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49588" y="525780"/>
            <a:ext cx="3442106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8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3.痛点与创新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355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384280" y="6473952"/>
            <a:ext cx="384048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800" b="0">
                <a:solidFill>
                  <a:srgbClr val="636B74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" y="1060704"/>
            <a:ext cx="10287000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350" b="1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AI for Materials + 专家闭环，而非纯 LLM 论文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" y="1444752"/>
            <a:ext cx="10140696" cy="14447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250"/>
              </a:spcAft>
            </a:pPr>
            <a:r>
              <a:rPr sz="1160" b="1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• Thomas Marwitz：</a:t>
            </a:r>
            <a:r>
              <a:rPr sz="1160" b="0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第一作者；KIT 理论信息学，负责模型方法与分析</a:t>
            </a:r>
          </a:p>
          <a:p>
            <a:pPr>
              <a:spcAft>
                <a:spcPts val="250"/>
              </a:spcAft>
            </a:pPr>
            <a:r>
              <a:rPr sz="1160" b="1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• Pascal Friederich：</a:t>
            </a:r>
            <a:r>
              <a:rPr sz="1160" b="0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通讯作者；KIT AiMat PI，研究材料 AI/ML 与可解释 AI</a:t>
            </a:r>
          </a:p>
          <a:p>
            <a:pPr>
              <a:spcAft>
                <a:spcPts val="250"/>
              </a:spcAft>
            </a:pPr>
            <a:r>
              <a:rPr sz="1160" b="1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• Christoph Brabec：</a:t>
            </a:r>
            <a:r>
              <a:rPr sz="1160" b="0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FAU / HI ERN，光伏与电子能源材料专家</a:t>
            </a:r>
          </a:p>
          <a:p>
            <a:pPr>
              <a:spcAft>
                <a:spcPts val="250"/>
              </a:spcAft>
            </a:pPr>
            <a:r>
              <a:rPr sz="1160" b="1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• Horst Hahn：</a:t>
            </a:r>
            <a:r>
              <a:rPr sz="1160" b="0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KIT 纳米技术研究所，纳米材料合成、表征与应用</a:t>
            </a:r>
          </a:p>
          <a:p>
            <a:pPr>
              <a:spcAft>
                <a:spcPts val="250"/>
              </a:spcAft>
            </a:pPr>
            <a:r>
              <a:rPr sz="1160" b="1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• Alexander Colsmann / Eva Blasco：</a:t>
            </a:r>
            <a:r>
              <a:rPr sz="1160" b="0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覆盖光伏器件、功能分子系统与微纳制造</a:t>
            </a:r>
          </a:p>
          <a:p>
            <a:pPr>
              <a:spcAft>
                <a:spcPts val="250"/>
              </a:spcAft>
            </a:pPr>
            <a:r>
              <a:rPr sz="1160" b="1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• 团队定位：</a:t>
            </a:r>
            <a:r>
              <a:rPr sz="1160" b="0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AI for Materials 牵头，材料专家参与建议评估闭环</a:t>
            </a:r>
          </a:p>
        </p:txBody>
      </p:sp>
      <p:pic>
        <p:nvPicPr>
          <p:cNvPr id="30" name="Picture 29" descr="author_portraits_named_verifi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3827" y="3598433"/>
            <a:ext cx="9464040" cy="1855694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363827" y="5495275"/>
            <a:ext cx="946404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700" b="0">
                <a:solidFill>
                  <a:srgbClr val="636B74"/>
                </a:solidFill>
                <a:latin typeface="Microsoft YaHei"/>
                <a:ea typeface="Microsoft YaHei"/>
                <a:cs typeface="Microsoft YaHei"/>
              </a:rPr>
              <a:t>头像与姓名一一对应；Thomas Marwitz 使用其公开 LinkedIn 头像，其余为已核验官方/机构头像。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1C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65376" cy="475488"/>
          </a:xfrm>
          <a:prstGeom prst="rect">
            <a:avLst/>
          </a:prstGeom>
          <a:solidFill>
            <a:srgbClr val="1C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nu_wordmark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1627632" cy="36605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65376" y="0"/>
            <a:ext cx="2065263" cy="475488"/>
          </a:xfrm>
          <a:prstGeom prst="rect">
            <a:avLst/>
          </a:prstGeom>
          <a:solidFill>
            <a:srgbClr val="F0C9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65376" y="100584"/>
            <a:ext cx="2065263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50" b="1">
                <a:solidFill>
                  <a:srgbClr val="1C345B"/>
                </a:solidFill>
                <a:latin typeface="Microsoft YaHei"/>
                <a:ea typeface="Microsoft YaHei"/>
                <a:cs typeface="Microsoft YaHei"/>
              </a:rPr>
              <a:t>绪论背景</a:t>
            </a:r>
          </a:p>
        </p:txBody>
      </p:sp>
      <p:sp>
        <p:nvSpPr>
          <p:cNvPr id="7" name="Rectangle 6"/>
          <p:cNvSpPr/>
          <p:nvPr/>
        </p:nvSpPr>
        <p:spPr>
          <a:xfrm>
            <a:off x="3930639" y="0"/>
            <a:ext cx="2065263" cy="475488"/>
          </a:xfrm>
          <a:prstGeom prst="rect">
            <a:avLst/>
          </a:prstGeom>
          <a:solidFill>
            <a:srgbClr val="1C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30639" y="100584"/>
            <a:ext cx="2065263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方法框架</a:t>
            </a:r>
          </a:p>
        </p:txBody>
      </p:sp>
      <p:sp>
        <p:nvSpPr>
          <p:cNvPr id="9" name="Rectangle 8"/>
          <p:cNvSpPr/>
          <p:nvPr/>
        </p:nvSpPr>
        <p:spPr>
          <a:xfrm>
            <a:off x="3930639" y="146304"/>
            <a:ext cx="5486" cy="182880"/>
          </a:xfrm>
          <a:prstGeom prst="rect">
            <a:avLst/>
          </a:prstGeom>
          <a:solidFill>
            <a:srgbClr val="D2D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95903" y="0"/>
            <a:ext cx="2065263" cy="475488"/>
          </a:xfrm>
          <a:prstGeom prst="rect">
            <a:avLst/>
          </a:prstGeom>
          <a:solidFill>
            <a:srgbClr val="1C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95903" y="100584"/>
            <a:ext cx="2065263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主要结果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95903" y="146304"/>
            <a:ext cx="5486" cy="182880"/>
          </a:xfrm>
          <a:prstGeom prst="rect">
            <a:avLst/>
          </a:prstGeom>
          <a:solidFill>
            <a:srgbClr val="D2D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61167" y="0"/>
            <a:ext cx="2065263" cy="475488"/>
          </a:xfrm>
          <a:prstGeom prst="rect">
            <a:avLst/>
          </a:prstGeom>
          <a:solidFill>
            <a:srgbClr val="1C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61167" y="100584"/>
            <a:ext cx="2065263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总结展望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61167" y="146304"/>
            <a:ext cx="5486" cy="182880"/>
          </a:xfrm>
          <a:prstGeom prst="rect">
            <a:avLst/>
          </a:prstGeom>
          <a:solidFill>
            <a:srgbClr val="D2D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126431" y="0"/>
            <a:ext cx="2065263" cy="475488"/>
          </a:xfrm>
          <a:prstGeom prst="rect">
            <a:avLst/>
          </a:prstGeom>
          <a:solidFill>
            <a:srgbClr val="1C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126431" y="100584"/>
            <a:ext cx="2065263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细节补充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126431" y="146304"/>
            <a:ext cx="5486" cy="182880"/>
          </a:xfrm>
          <a:prstGeom prst="rect">
            <a:avLst/>
          </a:prstGeom>
          <a:solidFill>
            <a:srgbClr val="D2D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475488"/>
            <a:ext cx="12191695" cy="292608"/>
          </a:xfrm>
          <a:prstGeom prst="rect">
            <a:avLst/>
          </a:prstGeom>
          <a:solidFill>
            <a:srgbClr val="355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865376" y="525780"/>
            <a:ext cx="3442106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8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1.作者简介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07482" y="475488"/>
            <a:ext cx="3442106" cy="292608"/>
          </a:xfrm>
          <a:prstGeom prst="rect">
            <a:avLst/>
          </a:prstGeom>
          <a:solidFill>
            <a:srgbClr val="5785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07482" y="539496"/>
            <a:ext cx="3657" cy="164592"/>
          </a:xfrm>
          <a:prstGeom prst="rect">
            <a:avLst/>
          </a:prstGeom>
          <a:solidFill>
            <a:srgbClr val="85A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7482" y="525780"/>
            <a:ext cx="3442106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8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2.历史脉络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749588" y="539496"/>
            <a:ext cx="3657" cy="164592"/>
          </a:xfrm>
          <a:prstGeom prst="rect">
            <a:avLst/>
          </a:prstGeom>
          <a:solidFill>
            <a:srgbClr val="85A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49588" y="525780"/>
            <a:ext cx="3442106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8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3.痛点与创新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355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384280" y="6473952"/>
            <a:ext cx="384048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800" b="0">
                <a:solidFill>
                  <a:srgbClr val="636B74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" y="1060704"/>
            <a:ext cx="10287000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350" b="1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历史脉络是“非典型组合 + 科学语义网络 + LLM 文本抽取”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" y="1444752"/>
            <a:ext cx="10140696" cy="14447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250"/>
              </a:spcAft>
            </a:pPr>
            <a:r>
              <a:rPr sz="1160" b="1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• 科学学：</a:t>
            </a:r>
            <a:r>
              <a:rPr sz="1160" b="0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高影响创新常来自此前少见的概念组合</a:t>
            </a:r>
          </a:p>
          <a:p>
            <a:pPr lvl="1">
              <a:spcAft>
                <a:spcPts val="250"/>
              </a:spcAft>
            </a:pPr>
            <a:r>
              <a:rPr sz="1130" b="1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– 参考文献：</a:t>
            </a:r>
            <a:r>
              <a:rPr sz="1130" b="0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Uzzi et al., Science 2013, DOI: 10.1126/science.1240474</a:t>
            </a:r>
          </a:p>
          <a:p>
            <a:pPr>
              <a:spcAft>
                <a:spcPts val="250"/>
              </a:spcAft>
            </a:pPr>
            <a:r>
              <a:rPr sz="1160" b="1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• 语义网络：</a:t>
            </a:r>
            <a:r>
              <a:rPr sz="1160" b="0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SemNet / Science4Cast 用科学概念图预测未来边</a:t>
            </a:r>
          </a:p>
          <a:p>
            <a:pPr lvl="1">
              <a:spcAft>
                <a:spcPts val="250"/>
              </a:spcAft>
            </a:pPr>
            <a:r>
              <a:rPr sz="1130" b="1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– 参考文献：</a:t>
            </a:r>
            <a:r>
              <a:rPr sz="1130" b="0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Krenn &amp; Zeilinger, PNAS 2020, DOI: 10.1073/pnas.1914370116；Krenn et al., Nature Machine Intelligence 2023, DOI: 10.1038/s42256-023-00735-0</a:t>
            </a:r>
          </a:p>
          <a:p>
            <a:pPr>
              <a:spcAft>
                <a:spcPts val="250"/>
              </a:spcAft>
            </a:pPr>
            <a:r>
              <a:rPr sz="1160" b="1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• 材料 NLP / LLM：</a:t>
            </a:r>
            <a:r>
              <a:rPr sz="1160" b="0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领域 embedding 与 LLM 抽取把文献转成可计算概念</a:t>
            </a:r>
          </a:p>
          <a:p>
            <a:pPr lvl="1">
              <a:spcAft>
                <a:spcPts val="250"/>
              </a:spcAft>
            </a:pPr>
            <a:r>
              <a:rPr sz="1130" b="1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– 参考文献：</a:t>
            </a:r>
            <a:r>
              <a:rPr sz="1130" b="0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Gupta et al., npj Computational Materials 2022, DOI: 10.1038/s41524-022-00784-w；Dagdelen et al., Nature Communications 2024, DOI: 10.1038/s41467-024-45563-x</a:t>
            </a:r>
          </a:p>
        </p:txBody>
      </p:sp>
      <p:pic>
        <p:nvPicPr>
          <p:cNvPr id="30" name="Picture 29" descr="history_research_flow_schemat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1399" y="3182112"/>
            <a:ext cx="7168896" cy="2688336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363827" y="5911596"/>
            <a:ext cx="946404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700" b="0">
                <a:solidFill>
                  <a:srgbClr val="636B74"/>
                </a:solidFill>
                <a:latin typeface="Microsoft YaHei"/>
                <a:ea typeface="Microsoft YaHei"/>
                <a:cs typeface="Microsoft YaHei"/>
              </a:rPr>
              <a:t>自绘示意图，概括从“非典型组合”科学学思想到本文时间概念图预测的研究脉络；不是论文原图。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1C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65376" cy="475488"/>
          </a:xfrm>
          <a:prstGeom prst="rect">
            <a:avLst/>
          </a:prstGeom>
          <a:solidFill>
            <a:srgbClr val="1C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nu_wordmark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1627632" cy="36605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65376" y="0"/>
            <a:ext cx="2065263" cy="475488"/>
          </a:xfrm>
          <a:prstGeom prst="rect">
            <a:avLst/>
          </a:prstGeom>
          <a:solidFill>
            <a:srgbClr val="F0C9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65376" y="100584"/>
            <a:ext cx="2065263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50" b="1">
                <a:solidFill>
                  <a:srgbClr val="1C345B"/>
                </a:solidFill>
                <a:latin typeface="Microsoft YaHei"/>
                <a:ea typeface="Microsoft YaHei"/>
                <a:cs typeface="Microsoft YaHei"/>
              </a:rPr>
              <a:t>绪论背景</a:t>
            </a:r>
          </a:p>
        </p:txBody>
      </p:sp>
      <p:sp>
        <p:nvSpPr>
          <p:cNvPr id="7" name="Rectangle 6"/>
          <p:cNvSpPr/>
          <p:nvPr/>
        </p:nvSpPr>
        <p:spPr>
          <a:xfrm>
            <a:off x="3930639" y="0"/>
            <a:ext cx="2065263" cy="475488"/>
          </a:xfrm>
          <a:prstGeom prst="rect">
            <a:avLst/>
          </a:prstGeom>
          <a:solidFill>
            <a:srgbClr val="1C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30639" y="100584"/>
            <a:ext cx="2065263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方法框架</a:t>
            </a:r>
          </a:p>
        </p:txBody>
      </p:sp>
      <p:sp>
        <p:nvSpPr>
          <p:cNvPr id="9" name="Rectangle 8"/>
          <p:cNvSpPr/>
          <p:nvPr/>
        </p:nvSpPr>
        <p:spPr>
          <a:xfrm>
            <a:off x="3930639" y="146304"/>
            <a:ext cx="5486" cy="182880"/>
          </a:xfrm>
          <a:prstGeom prst="rect">
            <a:avLst/>
          </a:prstGeom>
          <a:solidFill>
            <a:srgbClr val="D2D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95903" y="0"/>
            <a:ext cx="2065263" cy="475488"/>
          </a:xfrm>
          <a:prstGeom prst="rect">
            <a:avLst/>
          </a:prstGeom>
          <a:solidFill>
            <a:srgbClr val="1C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95903" y="100584"/>
            <a:ext cx="2065263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主要结果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95903" y="146304"/>
            <a:ext cx="5486" cy="182880"/>
          </a:xfrm>
          <a:prstGeom prst="rect">
            <a:avLst/>
          </a:prstGeom>
          <a:solidFill>
            <a:srgbClr val="D2D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61167" y="0"/>
            <a:ext cx="2065263" cy="475488"/>
          </a:xfrm>
          <a:prstGeom prst="rect">
            <a:avLst/>
          </a:prstGeom>
          <a:solidFill>
            <a:srgbClr val="1C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61167" y="100584"/>
            <a:ext cx="2065263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总结展望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61167" y="146304"/>
            <a:ext cx="5486" cy="182880"/>
          </a:xfrm>
          <a:prstGeom prst="rect">
            <a:avLst/>
          </a:prstGeom>
          <a:solidFill>
            <a:srgbClr val="D2D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126431" y="0"/>
            <a:ext cx="2065263" cy="475488"/>
          </a:xfrm>
          <a:prstGeom prst="rect">
            <a:avLst/>
          </a:prstGeom>
          <a:solidFill>
            <a:srgbClr val="1C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126431" y="100584"/>
            <a:ext cx="2065263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细节补充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126431" y="146304"/>
            <a:ext cx="5486" cy="182880"/>
          </a:xfrm>
          <a:prstGeom prst="rect">
            <a:avLst/>
          </a:prstGeom>
          <a:solidFill>
            <a:srgbClr val="D2D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475488"/>
            <a:ext cx="12191695" cy="292608"/>
          </a:xfrm>
          <a:prstGeom prst="rect">
            <a:avLst/>
          </a:prstGeom>
          <a:solidFill>
            <a:srgbClr val="355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865376" y="525780"/>
            <a:ext cx="3442106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8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1.作者简介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07482" y="539496"/>
            <a:ext cx="3657" cy="164592"/>
          </a:xfrm>
          <a:prstGeom prst="rect">
            <a:avLst/>
          </a:prstGeom>
          <a:solidFill>
            <a:srgbClr val="85A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7482" y="525780"/>
            <a:ext cx="3442106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8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2.历史脉络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49588" y="475488"/>
            <a:ext cx="3442106" cy="292608"/>
          </a:xfrm>
          <a:prstGeom prst="rect">
            <a:avLst/>
          </a:prstGeom>
          <a:solidFill>
            <a:srgbClr val="5785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749588" y="539496"/>
            <a:ext cx="3657" cy="164592"/>
          </a:xfrm>
          <a:prstGeom prst="rect">
            <a:avLst/>
          </a:prstGeom>
          <a:solidFill>
            <a:srgbClr val="85A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49588" y="525780"/>
            <a:ext cx="3442106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8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3.痛点与创新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355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384280" y="6473952"/>
            <a:ext cx="384048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800" b="0">
                <a:solidFill>
                  <a:srgbClr val="636B74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" y="1060704"/>
            <a:ext cx="10287000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350" b="1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核心痛点是材料科学新组合很难靠人工系统发现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" y="1444752"/>
            <a:ext cx="10140696" cy="14447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250"/>
              </a:spcAft>
            </a:pPr>
            <a:r>
              <a:rPr sz="1160" b="1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• 核心痛点：</a:t>
            </a:r>
          </a:p>
          <a:p>
            <a:pPr lvl="1">
              <a:spcAft>
                <a:spcPts val="250"/>
              </a:spcAft>
            </a:pPr>
            <a:r>
              <a:rPr sz="1130" b="1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– 文献规模超出人类阅读能力：</a:t>
            </a:r>
            <a:r>
              <a:rPr sz="1130" b="0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单个研究者难以掌握大量跨子领域组合</a:t>
            </a:r>
          </a:p>
          <a:p>
            <a:pPr lvl="1">
              <a:spcAft>
                <a:spcPts val="250"/>
              </a:spcAft>
            </a:pPr>
            <a:r>
              <a:rPr sz="1130" b="1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– 非结构化摘要难以直接用于算法预测：</a:t>
            </a:r>
            <a:r>
              <a:rPr sz="1130" b="0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概念关系需要抽取、归一化、去噪</a:t>
            </a:r>
          </a:p>
          <a:p>
            <a:pPr lvl="1">
              <a:spcAft>
                <a:spcPts val="250"/>
              </a:spcAft>
            </a:pPr>
            <a:r>
              <a:rPr sz="1130" b="1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– 传统关键词抽取噪声高：</a:t>
            </a:r>
            <a:r>
              <a:rPr sz="1130" b="0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RAKE precision 约 16.7%，人工清洗负担重</a:t>
            </a:r>
          </a:p>
          <a:p>
            <a:pPr lvl="1">
              <a:spcAft>
                <a:spcPts val="250"/>
              </a:spcAft>
            </a:pPr>
            <a:r>
              <a:rPr sz="1130" b="1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– 只用图拓扑难以捕捉“较远但语义合理”的组合：</a:t>
            </a:r>
            <a:r>
              <a:rPr sz="1130" b="0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d_prev=3 召回很低</a:t>
            </a:r>
          </a:p>
          <a:p>
            <a:pPr>
              <a:spcAft>
                <a:spcPts val="250"/>
              </a:spcAft>
            </a:pPr>
            <a:r>
              <a:rPr sz="1160" b="1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• 创新主线：</a:t>
            </a:r>
            <a:r>
              <a:rPr sz="1160" b="0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LLM 抽取规范概念；时间概念图建模历史；语义 + 拓扑混合预测</a:t>
            </a:r>
          </a:p>
        </p:txBody>
      </p:sp>
      <p:pic>
        <p:nvPicPr>
          <p:cNvPr id="30" name="Picture 29" descr="pain_innovation_schemat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4007" y="3182112"/>
            <a:ext cx="6583680" cy="2688336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363827" y="5911596"/>
            <a:ext cx="946404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700" b="0">
                <a:solidFill>
                  <a:srgbClr val="636B74"/>
                </a:solidFill>
                <a:latin typeface="Microsoft YaHei"/>
                <a:ea typeface="Microsoft YaHei"/>
                <a:cs typeface="Microsoft YaHei"/>
              </a:rPr>
              <a:t>自绘示意图，概括本文从“文献规模/抽取噪声/远距离组合”到“LLM 抽取 + 时间概念图 + 语义/拓扑混合预测”的创新路径；不是论文原图。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1C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65376" cy="475488"/>
          </a:xfrm>
          <a:prstGeom prst="rect">
            <a:avLst/>
          </a:prstGeom>
          <a:solidFill>
            <a:srgbClr val="1C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nu_wordmark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1627632" cy="36605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65376" y="0"/>
            <a:ext cx="2065263" cy="475488"/>
          </a:xfrm>
          <a:prstGeom prst="rect">
            <a:avLst/>
          </a:prstGeom>
          <a:solidFill>
            <a:srgbClr val="1C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65376" y="100584"/>
            <a:ext cx="2065263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绪论背景</a:t>
            </a:r>
          </a:p>
        </p:txBody>
      </p:sp>
      <p:sp>
        <p:nvSpPr>
          <p:cNvPr id="7" name="Rectangle 6"/>
          <p:cNvSpPr/>
          <p:nvPr/>
        </p:nvSpPr>
        <p:spPr>
          <a:xfrm>
            <a:off x="3930639" y="0"/>
            <a:ext cx="2065263" cy="475488"/>
          </a:xfrm>
          <a:prstGeom prst="rect">
            <a:avLst/>
          </a:prstGeom>
          <a:solidFill>
            <a:srgbClr val="F0C9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30639" y="100584"/>
            <a:ext cx="2065263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50" b="1">
                <a:solidFill>
                  <a:srgbClr val="1C345B"/>
                </a:solidFill>
                <a:latin typeface="Microsoft YaHei"/>
                <a:ea typeface="Microsoft YaHei"/>
                <a:cs typeface="Microsoft YaHei"/>
              </a:rPr>
              <a:t>方法框架</a:t>
            </a:r>
          </a:p>
        </p:txBody>
      </p:sp>
      <p:sp>
        <p:nvSpPr>
          <p:cNvPr id="9" name="Rectangle 8"/>
          <p:cNvSpPr/>
          <p:nvPr/>
        </p:nvSpPr>
        <p:spPr>
          <a:xfrm>
            <a:off x="5995903" y="0"/>
            <a:ext cx="2065263" cy="475488"/>
          </a:xfrm>
          <a:prstGeom prst="rect">
            <a:avLst/>
          </a:prstGeom>
          <a:solidFill>
            <a:srgbClr val="1C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95903" y="100584"/>
            <a:ext cx="2065263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主要结果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95903" y="146304"/>
            <a:ext cx="5486" cy="182880"/>
          </a:xfrm>
          <a:prstGeom prst="rect">
            <a:avLst/>
          </a:prstGeom>
          <a:solidFill>
            <a:srgbClr val="D2D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61167" y="0"/>
            <a:ext cx="2065263" cy="475488"/>
          </a:xfrm>
          <a:prstGeom prst="rect">
            <a:avLst/>
          </a:prstGeom>
          <a:solidFill>
            <a:srgbClr val="1C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61167" y="100584"/>
            <a:ext cx="2065263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总结展望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61167" y="146304"/>
            <a:ext cx="5486" cy="182880"/>
          </a:xfrm>
          <a:prstGeom prst="rect">
            <a:avLst/>
          </a:prstGeom>
          <a:solidFill>
            <a:srgbClr val="D2D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126431" y="0"/>
            <a:ext cx="2065263" cy="475488"/>
          </a:xfrm>
          <a:prstGeom prst="rect">
            <a:avLst/>
          </a:prstGeom>
          <a:solidFill>
            <a:srgbClr val="1C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126431" y="100584"/>
            <a:ext cx="2065263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细节补充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126431" y="146304"/>
            <a:ext cx="5486" cy="182880"/>
          </a:xfrm>
          <a:prstGeom prst="rect">
            <a:avLst/>
          </a:prstGeom>
          <a:solidFill>
            <a:srgbClr val="D2D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475488"/>
            <a:ext cx="12191695" cy="292608"/>
          </a:xfrm>
          <a:prstGeom prst="rect">
            <a:avLst/>
          </a:prstGeom>
          <a:solidFill>
            <a:srgbClr val="355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865376" y="475488"/>
            <a:ext cx="1290789" cy="292608"/>
          </a:xfrm>
          <a:prstGeom prst="rect">
            <a:avLst/>
          </a:prstGeom>
          <a:solidFill>
            <a:srgbClr val="5785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865376" y="525780"/>
            <a:ext cx="1290789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8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1.总体流程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56165" y="539496"/>
            <a:ext cx="3657" cy="164592"/>
          </a:xfrm>
          <a:prstGeom prst="rect">
            <a:avLst/>
          </a:prstGeom>
          <a:solidFill>
            <a:srgbClr val="85A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56165" y="525780"/>
            <a:ext cx="1290789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8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2.数据来源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46955" y="539496"/>
            <a:ext cx="3657" cy="164592"/>
          </a:xfrm>
          <a:prstGeom prst="rect">
            <a:avLst/>
          </a:prstGeom>
          <a:solidFill>
            <a:srgbClr val="85A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46955" y="525780"/>
            <a:ext cx="1290789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8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3.概念抽取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37745" y="539496"/>
            <a:ext cx="3657" cy="164592"/>
          </a:xfrm>
          <a:prstGeom prst="rect">
            <a:avLst/>
          </a:prstGeom>
          <a:solidFill>
            <a:srgbClr val="85A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37745" y="525780"/>
            <a:ext cx="1290789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8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4.概念图与表征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028535" y="539496"/>
            <a:ext cx="3657" cy="164592"/>
          </a:xfrm>
          <a:prstGeom prst="rect">
            <a:avLst/>
          </a:prstGeom>
          <a:solidFill>
            <a:srgbClr val="85A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28535" y="525780"/>
            <a:ext cx="1290789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8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5.链路预测任务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319325" y="539496"/>
            <a:ext cx="3657" cy="164592"/>
          </a:xfrm>
          <a:prstGeom prst="rect">
            <a:avLst/>
          </a:prstGeom>
          <a:solidFill>
            <a:srgbClr val="85A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19325" y="525780"/>
            <a:ext cx="1290789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8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6.模型输入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10115" y="539496"/>
            <a:ext cx="3657" cy="164592"/>
          </a:xfrm>
          <a:prstGeom prst="rect">
            <a:avLst/>
          </a:prstGeom>
          <a:solidFill>
            <a:srgbClr val="85A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10115" y="525780"/>
            <a:ext cx="1290789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8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7.预测模型架构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900905" y="539496"/>
            <a:ext cx="3657" cy="164592"/>
          </a:xfrm>
          <a:prstGeom prst="rect">
            <a:avLst/>
          </a:prstGeom>
          <a:solidFill>
            <a:srgbClr val="85A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900905" y="525780"/>
            <a:ext cx="1290789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8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8.训练评估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355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384280" y="6473952"/>
            <a:ext cx="384048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800" b="0">
                <a:solidFill>
                  <a:srgbClr val="636B74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08" y="1060704"/>
            <a:ext cx="10287000" cy="32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550" b="1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方法主线：摘要到概念图，再到未来边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6112" y="1458976"/>
            <a:ext cx="10140696" cy="10830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250"/>
              </a:spcAft>
            </a:pPr>
            <a:r>
              <a:rPr sz="1360" b="1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• 输入：</a:t>
            </a:r>
            <a:r>
              <a:rPr sz="1360" b="0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OpenAlex 材料科学论文标题、摘要、发表时间</a:t>
            </a:r>
          </a:p>
          <a:p>
            <a:pPr>
              <a:spcAft>
                <a:spcPts val="250"/>
              </a:spcAft>
            </a:pPr>
            <a:r>
              <a:rPr sz="1360" b="1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• 抽取：</a:t>
            </a:r>
            <a:r>
              <a:rPr sz="1360" b="0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化学式 parser + fine-tuned LLaMA-2-13B 概念抽取</a:t>
            </a:r>
          </a:p>
          <a:p>
            <a:pPr>
              <a:spcAft>
                <a:spcPts val="250"/>
              </a:spcAft>
            </a:pPr>
            <a:r>
              <a:rPr sz="1360" b="1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• 构图：</a:t>
            </a:r>
            <a:r>
              <a:rPr sz="1360" b="0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同一摘要内概念两两成 clique，边带时间戳</a:t>
            </a:r>
          </a:p>
          <a:p>
            <a:pPr>
              <a:spcAft>
                <a:spcPts val="250"/>
              </a:spcAft>
            </a:pPr>
            <a:r>
              <a:rPr sz="1360" b="1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• 输出：</a:t>
            </a:r>
            <a:r>
              <a:rPr sz="1360" b="0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此前未连边概念对在未来窗口是否形成新边</a:t>
            </a:r>
          </a:p>
        </p:txBody>
      </p:sp>
      <p:pic>
        <p:nvPicPr>
          <p:cNvPr id="39" name="Picture 38" descr="extended_data_fig3_official_ful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3827" y="3227505"/>
            <a:ext cx="9464040" cy="225007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363827" y="5518730"/>
            <a:ext cx="946404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700" b="0">
                <a:solidFill>
                  <a:srgbClr val="636B74"/>
                </a:solidFill>
                <a:latin typeface="Microsoft YaHei"/>
                <a:ea typeface="Microsoft YaHei"/>
                <a:cs typeface="Microsoft YaHei"/>
              </a:rPr>
              <a:t>Extended Data Fig. 3，OpenAlex 摘要 → LLM 概念抽取 → concept graph → link prediction 的完整流程。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1C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65376" cy="475488"/>
          </a:xfrm>
          <a:prstGeom prst="rect">
            <a:avLst/>
          </a:prstGeom>
          <a:solidFill>
            <a:srgbClr val="1C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nu_wordmark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1627632" cy="36605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65376" y="0"/>
            <a:ext cx="2065263" cy="475488"/>
          </a:xfrm>
          <a:prstGeom prst="rect">
            <a:avLst/>
          </a:prstGeom>
          <a:solidFill>
            <a:srgbClr val="1C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65376" y="100584"/>
            <a:ext cx="2065263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绪论背景</a:t>
            </a:r>
          </a:p>
        </p:txBody>
      </p:sp>
      <p:sp>
        <p:nvSpPr>
          <p:cNvPr id="7" name="Rectangle 6"/>
          <p:cNvSpPr/>
          <p:nvPr/>
        </p:nvSpPr>
        <p:spPr>
          <a:xfrm>
            <a:off x="3930639" y="0"/>
            <a:ext cx="2065263" cy="475488"/>
          </a:xfrm>
          <a:prstGeom prst="rect">
            <a:avLst/>
          </a:prstGeom>
          <a:solidFill>
            <a:srgbClr val="F0C9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30639" y="100584"/>
            <a:ext cx="2065263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50" b="1">
                <a:solidFill>
                  <a:srgbClr val="1C345B"/>
                </a:solidFill>
                <a:latin typeface="Microsoft YaHei"/>
                <a:ea typeface="Microsoft YaHei"/>
                <a:cs typeface="Microsoft YaHei"/>
              </a:rPr>
              <a:t>方法框架</a:t>
            </a:r>
          </a:p>
        </p:txBody>
      </p:sp>
      <p:sp>
        <p:nvSpPr>
          <p:cNvPr id="9" name="Rectangle 8"/>
          <p:cNvSpPr/>
          <p:nvPr/>
        </p:nvSpPr>
        <p:spPr>
          <a:xfrm>
            <a:off x="5995903" y="0"/>
            <a:ext cx="2065263" cy="475488"/>
          </a:xfrm>
          <a:prstGeom prst="rect">
            <a:avLst/>
          </a:prstGeom>
          <a:solidFill>
            <a:srgbClr val="1C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95903" y="100584"/>
            <a:ext cx="2065263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主要结果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95903" y="146304"/>
            <a:ext cx="5486" cy="182880"/>
          </a:xfrm>
          <a:prstGeom prst="rect">
            <a:avLst/>
          </a:prstGeom>
          <a:solidFill>
            <a:srgbClr val="D2D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61167" y="0"/>
            <a:ext cx="2065263" cy="475488"/>
          </a:xfrm>
          <a:prstGeom prst="rect">
            <a:avLst/>
          </a:prstGeom>
          <a:solidFill>
            <a:srgbClr val="1C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61167" y="100584"/>
            <a:ext cx="2065263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总结展望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61167" y="146304"/>
            <a:ext cx="5486" cy="182880"/>
          </a:xfrm>
          <a:prstGeom prst="rect">
            <a:avLst/>
          </a:prstGeom>
          <a:solidFill>
            <a:srgbClr val="D2D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126431" y="0"/>
            <a:ext cx="2065263" cy="475488"/>
          </a:xfrm>
          <a:prstGeom prst="rect">
            <a:avLst/>
          </a:prstGeom>
          <a:solidFill>
            <a:srgbClr val="1C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126431" y="100584"/>
            <a:ext cx="2065263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细节补充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126431" y="146304"/>
            <a:ext cx="5486" cy="182880"/>
          </a:xfrm>
          <a:prstGeom prst="rect">
            <a:avLst/>
          </a:prstGeom>
          <a:solidFill>
            <a:srgbClr val="D2D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475488"/>
            <a:ext cx="12191695" cy="292608"/>
          </a:xfrm>
          <a:prstGeom prst="rect">
            <a:avLst/>
          </a:prstGeom>
          <a:solidFill>
            <a:srgbClr val="355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65376" y="525780"/>
            <a:ext cx="1290789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8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1.总体流程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56165" y="475488"/>
            <a:ext cx="1290789" cy="292608"/>
          </a:xfrm>
          <a:prstGeom prst="rect">
            <a:avLst/>
          </a:prstGeom>
          <a:solidFill>
            <a:srgbClr val="5785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156165" y="539496"/>
            <a:ext cx="3657" cy="164592"/>
          </a:xfrm>
          <a:prstGeom prst="rect">
            <a:avLst/>
          </a:prstGeom>
          <a:solidFill>
            <a:srgbClr val="85A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56165" y="525780"/>
            <a:ext cx="1290789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8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2.数据来源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46955" y="539496"/>
            <a:ext cx="3657" cy="164592"/>
          </a:xfrm>
          <a:prstGeom prst="rect">
            <a:avLst/>
          </a:prstGeom>
          <a:solidFill>
            <a:srgbClr val="85A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46955" y="525780"/>
            <a:ext cx="1290789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8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3.概念抽取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37745" y="539496"/>
            <a:ext cx="3657" cy="164592"/>
          </a:xfrm>
          <a:prstGeom prst="rect">
            <a:avLst/>
          </a:prstGeom>
          <a:solidFill>
            <a:srgbClr val="85A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37745" y="525780"/>
            <a:ext cx="1290789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8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4.概念图与表征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028535" y="539496"/>
            <a:ext cx="3657" cy="164592"/>
          </a:xfrm>
          <a:prstGeom prst="rect">
            <a:avLst/>
          </a:prstGeom>
          <a:solidFill>
            <a:srgbClr val="85A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28535" y="525780"/>
            <a:ext cx="1290789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8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5.链路预测任务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319325" y="539496"/>
            <a:ext cx="3657" cy="164592"/>
          </a:xfrm>
          <a:prstGeom prst="rect">
            <a:avLst/>
          </a:prstGeom>
          <a:solidFill>
            <a:srgbClr val="85A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19325" y="525780"/>
            <a:ext cx="1290789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8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6.模型输入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10115" y="539496"/>
            <a:ext cx="3657" cy="164592"/>
          </a:xfrm>
          <a:prstGeom prst="rect">
            <a:avLst/>
          </a:prstGeom>
          <a:solidFill>
            <a:srgbClr val="85A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10115" y="525780"/>
            <a:ext cx="1290789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8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7.预测模型架构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900905" y="539496"/>
            <a:ext cx="3657" cy="164592"/>
          </a:xfrm>
          <a:prstGeom prst="rect">
            <a:avLst/>
          </a:prstGeom>
          <a:solidFill>
            <a:srgbClr val="85A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900905" y="525780"/>
            <a:ext cx="1290789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8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8.训练评估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355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384280" y="6473952"/>
            <a:ext cx="384048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800" b="0">
                <a:solidFill>
                  <a:srgbClr val="636B74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08" y="1060704"/>
            <a:ext cx="10287000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450" b="1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论文数据来自 OpenAlex 的材料科学文献元数据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6112" y="1444752"/>
            <a:ext cx="10140696" cy="14447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250"/>
              </a:spcAft>
            </a:pPr>
            <a:r>
              <a:rPr sz="1260" b="1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• 数据源：</a:t>
            </a:r>
            <a:r>
              <a:rPr sz="1260" b="0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OpenAlex works，开放学术元数据索引</a:t>
            </a:r>
          </a:p>
          <a:p>
            <a:pPr>
              <a:spcAft>
                <a:spcPts val="250"/>
              </a:spcAft>
            </a:pPr>
            <a:r>
              <a:rPr sz="1260" b="1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• 筛选：</a:t>
            </a:r>
            <a:r>
              <a:rPr sz="1260" b="0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materials science 相关 journals、conferences 和 other venues</a:t>
            </a:r>
          </a:p>
          <a:p>
            <a:pPr>
              <a:spcAft>
                <a:spcPts val="250"/>
              </a:spcAft>
            </a:pPr>
            <a:r>
              <a:rPr sz="1260" b="1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• 字段：</a:t>
            </a:r>
            <a:r>
              <a:rPr sz="1260" b="0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title、abstract、publication date；后续建图只用标题/摘要层面信息</a:t>
            </a:r>
          </a:p>
          <a:p>
            <a:pPr>
              <a:spcAft>
                <a:spcPts val="250"/>
              </a:spcAft>
            </a:pPr>
            <a:r>
              <a:rPr sz="1260" b="1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• 规模：</a:t>
            </a:r>
            <a:r>
              <a:rPr sz="1260" b="0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约 221,000 篇文章，发表时间覆盖 1955-2022</a:t>
            </a:r>
          </a:p>
          <a:p>
            <a:pPr>
              <a:spcAft>
                <a:spcPts val="250"/>
              </a:spcAft>
            </a:pPr>
            <a:r>
              <a:rPr sz="1260" b="1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• 公开性：</a:t>
            </a:r>
            <a:r>
              <a:rPr sz="1260" b="0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OpenAlex 源数据开放；论文构造的概念图和训练样本需按方法、代码与补充材料复核</a:t>
            </a:r>
          </a:p>
        </p:txBody>
      </p:sp>
      <p:pic>
        <p:nvPicPr>
          <p:cNvPr id="39" name="Picture 38" descr="data_source_openalex_icon_schemat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3827" y="3354542"/>
            <a:ext cx="9464040" cy="234347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1C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65376" cy="475488"/>
          </a:xfrm>
          <a:prstGeom prst="rect">
            <a:avLst/>
          </a:prstGeom>
          <a:solidFill>
            <a:srgbClr val="1C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nu_wordmark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1627632" cy="36605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65376" y="0"/>
            <a:ext cx="2065263" cy="475488"/>
          </a:xfrm>
          <a:prstGeom prst="rect">
            <a:avLst/>
          </a:prstGeom>
          <a:solidFill>
            <a:srgbClr val="1C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65376" y="100584"/>
            <a:ext cx="2065263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绪论背景</a:t>
            </a:r>
          </a:p>
        </p:txBody>
      </p:sp>
      <p:sp>
        <p:nvSpPr>
          <p:cNvPr id="7" name="Rectangle 6"/>
          <p:cNvSpPr/>
          <p:nvPr/>
        </p:nvSpPr>
        <p:spPr>
          <a:xfrm>
            <a:off x="3930639" y="0"/>
            <a:ext cx="2065263" cy="475488"/>
          </a:xfrm>
          <a:prstGeom prst="rect">
            <a:avLst/>
          </a:prstGeom>
          <a:solidFill>
            <a:srgbClr val="F0C9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30639" y="100584"/>
            <a:ext cx="2065263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50" b="1">
                <a:solidFill>
                  <a:srgbClr val="1C345B"/>
                </a:solidFill>
                <a:latin typeface="Microsoft YaHei"/>
                <a:ea typeface="Microsoft YaHei"/>
                <a:cs typeface="Microsoft YaHei"/>
              </a:rPr>
              <a:t>方法框架</a:t>
            </a:r>
          </a:p>
        </p:txBody>
      </p:sp>
      <p:sp>
        <p:nvSpPr>
          <p:cNvPr id="9" name="Rectangle 8"/>
          <p:cNvSpPr/>
          <p:nvPr/>
        </p:nvSpPr>
        <p:spPr>
          <a:xfrm>
            <a:off x="5995903" y="0"/>
            <a:ext cx="2065263" cy="475488"/>
          </a:xfrm>
          <a:prstGeom prst="rect">
            <a:avLst/>
          </a:prstGeom>
          <a:solidFill>
            <a:srgbClr val="1C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95903" y="100584"/>
            <a:ext cx="2065263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主要结果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95903" y="146304"/>
            <a:ext cx="5486" cy="182880"/>
          </a:xfrm>
          <a:prstGeom prst="rect">
            <a:avLst/>
          </a:prstGeom>
          <a:solidFill>
            <a:srgbClr val="D2D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61167" y="0"/>
            <a:ext cx="2065263" cy="475488"/>
          </a:xfrm>
          <a:prstGeom prst="rect">
            <a:avLst/>
          </a:prstGeom>
          <a:solidFill>
            <a:srgbClr val="1C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61167" y="100584"/>
            <a:ext cx="2065263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总结展望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61167" y="146304"/>
            <a:ext cx="5486" cy="182880"/>
          </a:xfrm>
          <a:prstGeom prst="rect">
            <a:avLst/>
          </a:prstGeom>
          <a:solidFill>
            <a:srgbClr val="D2D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126431" y="0"/>
            <a:ext cx="2065263" cy="475488"/>
          </a:xfrm>
          <a:prstGeom prst="rect">
            <a:avLst/>
          </a:prstGeom>
          <a:solidFill>
            <a:srgbClr val="1C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126431" y="100584"/>
            <a:ext cx="2065263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细节补充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126431" y="146304"/>
            <a:ext cx="5486" cy="182880"/>
          </a:xfrm>
          <a:prstGeom prst="rect">
            <a:avLst/>
          </a:prstGeom>
          <a:solidFill>
            <a:srgbClr val="D2D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475488"/>
            <a:ext cx="12191695" cy="292608"/>
          </a:xfrm>
          <a:prstGeom prst="rect">
            <a:avLst/>
          </a:prstGeom>
          <a:solidFill>
            <a:srgbClr val="355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65376" y="525780"/>
            <a:ext cx="1290789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8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1.总体流程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56165" y="539496"/>
            <a:ext cx="3657" cy="164592"/>
          </a:xfrm>
          <a:prstGeom prst="rect">
            <a:avLst/>
          </a:prstGeom>
          <a:solidFill>
            <a:srgbClr val="85A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56165" y="525780"/>
            <a:ext cx="1290789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8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2.数据来源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46955" y="475488"/>
            <a:ext cx="1290789" cy="292608"/>
          </a:xfrm>
          <a:prstGeom prst="rect">
            <a:avLst/>
          </a:prstGeom>
          <a:solidFill>
            <a:srgbClr val="5785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46955" y="539496"/>
            <a:ext cx="3657" cy="164592"/>
          </a:xfrm>
          <a:prstGeom prst="rect">
            <a:avLst/>
          </a:prstGeom>
          <a:solidFill>
            <a:srgbClr val="85A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46955" y="525780"/>
            <a:ext cx="1290789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8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3.概念抽取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37745" y="539496"/>
            <a:ext cx="3657" cy="164592"/>
          </a:xfrm>
          <a:prstGeom prst="rect">
            <a:avLst/>
          </a:prstGeom>
          <a:solidFill>
            <a:srgbClr val="85A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37745" y="525780"/>
            <a:ext cx="1290789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8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4.概念图与表征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028535" y="539496"/>
            <a:ext cx="3657" cy="164592"/>
          </a:xfrm>
          <a:prstGeom prst="rect">
            <a:avLst/>
          </a:prstGeom>
          <a:solidFill>
            <a:srgbClr val="85A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28535" y="525780"/>
            <a:ext cx="1290789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8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5.链路预测任务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319325" y="539496"/>
            <a:ext cx="3657" cy="164592"/>
          </a:xfrm>
          <a:prstGeom prst="rect">
            <a:avLst/>
          </a:prstGeom>
          <a:solidFill>
            <a:srgbClr val="85A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19325" y="525780"/>
            <a:ext cx="1290789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8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6.模型输入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10115" y="539496"/>
            <a:ext cx="3657" cy="164592"/>
          </a:xfrm>
          <a:prstGeom prst="rect">
            <a:avLst/>
          </a:prstGeom>
          <a:solidFill>
            <a:srgbClr val="85A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10115" y="525780"/>
            <a:ext cx="1290789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8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7.预测模型架构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900905" y="539496"/>
            <a:ext cx="3657" cy="164592"/>
          </a:xfrm>
          <a:prstGeom prst="rect">
            <a:avLst/>
          </a:prstGeom>
          <a:solidFill>
            <a:srgbClr val="85A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900905" y="525780"/>
            <a:ext cx="1290789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8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8.训练评估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355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384280" y="6473952"/>
            <a:ext cx="384048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800" b="0">
                <a:solidFill>
                  <a:srgbClr val="636B74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08" y="1060704"/>
            <a:ext cx="10287000" cy="32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550" b="1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Fig. 1 展示“少量人工标注 → 扩展标注集 → 微调抽取器”的闭环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6112" y="1458976"/>
            <a:ext cx="10140696" cy="10830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250"/>
              </a:spcAft>
            </a:pPr>
            <a:r>
              <a:rPr sz="1360" b="1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• Base LLM：</a:t>
            </a:r>
            <a:r>
              <a:rPr sz="1360" b="0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LLaMA-2-13B；输入摘要文本，输出规范 concept list</a:t>
            </a:r>
          </a:p>
          <a:p>
            <a:pPr>
              <a:spcAft>
                <a:spcPts val="250"/>
              </a:spcAft>
            </a:pPr>
            <a:r>
              <a:rPr sz="1360" b="1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• 第一步：</a:t>
            </a:r>
            <a:r>
              <a:rPr sz="1360" b="0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人工标注 100 个摘要，用于微调第一版概念抽取模型</a:t>
            </a:r>
          </a:p>
          <a:p>
            <a:pPr>
              <a:spcAft>
                <a:spcPts val="250"/>
              </a:spcAft>
            </a:pPr>
            <a:r>
              <a:rPr sz="1360" b="1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• 第二步：</a:t>
            </a:r>
            <a:r>
              <a:rPr sz="1360" b="0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模型抽取另 100 个摘要，与 GPT-3.5 结果对照后人工纠错</a:t>
            </a:r>
          </a:p>
          <a:p>
            <a:pPr>
              <a:spcAft>
                <a:spcPts val="250"/>
              </a:spcAft>
            </a:pPr>
            <a:r>
              <a:rPr sz="1360" b="1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• 第三步：</a:t>
            </a:r>
            <a:r>
              <a:rPr sz="1360" b="0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得到 200 个标注摘要，再次微调最终抽取器并处理约 221,000 个摘要</a:t>
            </a:r>
          </a:p>
        </p:txBody>
      </p:sp>
      <p:pic>
        <p:nvPicPr>
          <p:cNvPr id="39" name="Picture 38" descr="fig1_official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2793" y="2834640"/>
            <a:ext cx="7926108" cy="3035808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363827" y="5911596"/>
            <a:ext cx="946404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700" b="0">
                <a:solidFill>
                  <a:srgbClr val="636B74"/>
                </a:solidFill>
                <a:latin typeface="Microsoft YaHei"/>
                <a:ea typeface="Microsoft YaHei"/>
                <a:cs typeface="Microsoft YaHei"/>
              </a:rPr>
              <a:t>Fig. 1，少量标注 + 参数高效微调扩展到大规模摘要。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1C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65376" cy="475488"/>
          </a:xfrm>
          <a:prstGeom prst="rect">
            <a:avLst/>
          </a:prstGeom>
          <a:solidFill>
            <a:srgbClr val="1C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nu_wordmark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1627632" cy="36605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65376" y="0"/>
            <a:ext cx="2065263" cy="475488"/>
          </a:xfrm>
          <a:prstGeom prst="rect">
            <a:avLst/>
          </a:prstGeom>
          <a:solidFill>
            <a:srgbClr val="1C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65376" y="100584"/>
            <a:ext cx="2065263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绪论背景</a:t>
            </a:r>
          </a:p>
        </p:txBody>
      </p:sp>
      <p:sp>
        <p:nvSpPr>
          <p:cNvPr id="7" name="Rectangle 6"/>
          <p:cNvSpPr/>
          <p:nvPr/>
        </p:nvSpPr>
        <p:spPr>
          <a:xfrm>
            <a:off x="3930639" y="0"/>
            <a:ext cx="2065263" cy="475488"/>
          </a:xfrm>
          <a:prstGeom prst="rect">
            <a:avLst/>
          </a:prstGeom>
          <a:solidFill>
            <a:srgbClr val="F0C9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30639" y="100584"/>
            <a:ext cx="2065263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50" b="1">
                <a:solidFill>
                  <a:srgbClr val="1C345B"/>
                </a:solidFill>
                <a:latin typeface="Microsoft YaHei"/>
                <a:ea typeface="Microsoft YaHei"/>
                <a:cs typeface="Microsoft YaHei"/>
              </a:rPr>
              <a:t>方法框架</a:t>
            </a:r>
          </a:p>
        </p:txBody>
      </p:sp>
      <p:sp>
        <p:nvSpPr>
          <p:cNvPr id="9" name="Rectangle 8"/>
          <p:cNvSpPr/>
          <p:nvPr/>
        </p:nvSpPr>
        <p:spPr>
          <a:xfrm>
            <a:off x="5995903" y="0"/>
            <a:ext cx="2065263" cy="475488"/>
          </a:xfrm>
          <a:prstGeom prst="rect">
            <a:avLst/>
          </a:prstGeom>
          <a:solidFill>
            <a:srgbClr val="1C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95903" y="100584"/>
            <a:ext cx="2065263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主要结果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95903" y="146304"/>
            <a:ext cx="5486" cy="182880"/>
          </a:xfrm>
          <a:prstGeom prst="rect">
            <a:avLst/>
          </a:prstGeom>
          <a:solidFill>
            <a:srgbClr val="D2D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61167" y="0"/>
            <a:ext cx="2065263" cy="475488"/>
          </a:xfrm>
          <a:prstGeom prst="rect">
            <a:avLst/>
          </a:prstGeom>
          <a:solidFill>
            <a:srgbClr val="1C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61167" y="100584"/>
            <a:ext cx="2065263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总结展望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61167" y="146304"/>
            <a:ext cx="5486" cy="182880"/>
          </a:xfrm>
          <a:prstGeom prst="rect">
            <a:avLst/>
          </a:prstGeom>
          <a:solidFill>
            <a:srgbClr val="D2D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126431" y="0"/>
            <a:ext cx="2065263" cy="475488"/>
          </a:xfrm>
          <a:prstGeom prst="rect">
            <a:avLst/>
          </a:prstGeom>
          <a:solidFill>
            <a:srgbClr val="1C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126431" y="100584"/>
            <a:ext cx="2065263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细节补充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126431" y="146304"/>
            <a:ext cx="5486" cy="182880"/>
          </a:xfrm>
          <a:prstGeom prst="rect">
            <a:avLst/>
          </a:prstGeom>
          <a:solidFill>
            <a:srgbClr val="D2D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475488"/>
            <a:ext cx="12191695" cy="292608"/>
          </a:xfrm>
          <a:prstGeom prst="rect">
            <a:avLst/>
          </a:prstGeom>
          <a:solidFill>
            <a:srgbClr val="355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65376" y="525780"/>
            <a:ext cx="1290789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8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1.总体流程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56165" y="539496"/>
            <a:ext cx="3657" cy="164592"/>
          </a:xfrm>
          <a:prstGeom prst="rect">
            <a:avLst/>
          </a:prstGeom>
          <a:solidFill>
            <a:srgbClr val="85A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56165" y="525780"/>
            <a:ext cx="1290789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8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2.数据来源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46955" y="475488"/>
            <a:ext cx="1290789" cy="292608"/>
          </a:xfrm>
          <a:prstGeom prst="rect">
            <a:avLst/>
          </a:prstGeom>
          <a:solidFill>
            <a:srgbClr val="5785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46955" y="539496"/>
            <a:ext cx="3657" cy="164592"/>
          </a:xfrm>
          <a:prstGeom prst="rect">
            <a:avLst/>
          </a:prstGeom>
          <a:solidFill>
            <a:srgbClr val="85A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46955" y="525780"/>
            <a:ext cx="1290789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8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3.概念抽取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37745" y="539496"/>
            <a:ext cx="3657" cy="164592"/>
          </a:xfrm>
          <a:prstGeom prst="rect">
            <a:avLst/>
          </a:prstGeom>
          <a:solidFill>
            <a:srgbClr val="85A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37745" y="525780"/>
            <a:ext cx="1290789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8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4.概念图与表征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028535" y="539496"/>
            <a:ext cx="3657" cy="164592"/>
          </a:xfrm>
          <a:prstGeom prst="rect">
            <a:avLst/>
          </a:prstGeom>
          <a:solidFill>
            <a:srgbClr val="85A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28535" y="525780"/>
            <a:ext cx="1290789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8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5.链路预测任务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319325" y="539496"/>
            <a:ext cx="3657" cy="164592"/>
          </a:xfrm>
          <a:prstGeom prst="rect">
            <a:avLst/>
          </a:prstGeom>
          <a:solidFill>
            <a:srgbClr val="85A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19325" y="525780"/>
            <a:ext cx="1290789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8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6.模型输入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10115" y="539496"/>
            <a:ext cx="3657" cy="164592"/>
          </a:xfrm>
          <a:prstGeom prst="rect">
            <a:avLst/>
          </a:prstGeom>
          <a:solidFill>
            <a:srgbClr val="85A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10115" y="525780"/>
            <a:ext cx="1290789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8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7.预测模型架构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900905" y="539496"/>
            <a:ext cx="3657" cy="164592"/>
          </a:xfrm>
          <a:prstGeom prst="rect">
            <a:avLst/>
          </a:prstGeom>
          <a:solidFill>
            <a:srgbClr val="85A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900905" y="525780"/>
            <a:ext cx="1290789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8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8.训练评估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355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384280" y="6473952"/>
            <a:ext cx="384048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800" b="0">
                <a:solidFill>
                  <a:srgbClr val="636B74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08" y="1060704"/>
            <a:ext cx="10287000" cy="32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550" b="1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抽取层的产物是规范化 concepts，供后续概念图作为节点使用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6112" y="1458976"/>
            <a:ext cx="10140696" cy="10830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250"/>
              </a:spcAft>
            </a:pPr>
            <a:r>
              <a:rPr sz="1360" b="1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• 微调与推理：</a:t>
            </a:r>
            <a:r>
              <a:rPr sz="1360" b="0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&lt;abstract&gt; #KEYWORDS# &lt;concepts&gt;；LoRA/PEFT；8-bit quantization</a:t>
            </a:r>
          </a:p>
          <a:p>
            <a:pPr>
              <a:spcAft>
                <a:spcPts val="250"/>
              </a:spcAft>
            </a:pPr>
            <a:r>
              <a:rPr sz="1360" b="1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• 关键参数：</a:t>
            </a:r>
            <a:r>
              <a:rPr sz="1360" b="0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补充材料给出 r=16、alpha=32、q_proj/v_proj</a:t>
            </a:r>
          </a:p>
          <a:p>
            <a:pPr>
              <a:spcAft>
                <a:spcPts val="250"/>
              </a:spcAft>
            </a:pPr>
            <a:r>
              <a:rPr sz="1360" b="1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• Table 1：</a:t>
            </a:r>
            <a:r>
              <a:rPr sz="1360" b="0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展示 nominalization、删除填充词、单复数归一、格式纠错和并列结构拆分</a:t>
            </a:r>
          </a:p>
          <a:p>
            <a:pPr>
              <a:spcAft>
                <a:spcPts val="250"/>
              </a:spcAft>
            </a:pPr>
            <a:r>
              <a:rPr sz="1360" b="1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• 计算规模：</a:t>
            </a:r>
            <a:r>
              <a:rPr sz="1360" b="0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约 160 GPU hours 处理 221,000 篇摘要</a:t>
            </a:r>
          </a:p>
        </p:txBody>
      </p:sp>
      <p:pic>
        <p:nvPicPr>
          <p:cNvPr id="39" name="Picture 38" descr="table1_llm_examples_redrawn_lar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0033" y="2834640"/>
            <a:ext cx="8131628" cy="303580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1C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65376" cy="475488"/>
          </a:xfrm>
          <a:prstGeom prst="rect">
            <a:avLst/>
          </a:prstGeom>
          <a:solidFill>
            <a:srgbClr val="1C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nu_wordmark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1627632" cy="36605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65376" y="0"/>
            <a:ext cx="2065263" cy="475488"/>
          </a:xfrm>
          <a:prstGeom prst="rect">
            <a:avLst/>
          </a:prstGeom>
          <a:solidFill>
            <a:srgbClr val="1C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65376" y="100584"/>
            <a:ext cx="2065263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绪论背景</a:t>
            </a:r>
          </a:p>
        </p:txBody>
      </p:sp>
      <p:sp>
        <p:nvSpPr>
          <p:cNvPr id="7" name="Rectangle 6"/>
          <p:cNvSpPr/>
          <p:nvPr/>
        </p:nvSpPr>
        <p:spPr>
          <a:xfrm>
            <a:off x="3930639" y="0"/>
            <a:ext cx="2065263" cy="475488"/>
          </a:xfrm>
          <a:prstGeom prst="rect">
            <a:avLst/>
          </a:prstGeom>
          <a:solidFill>
            <a:srgbClr val="F0C9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30639" y="100584"/>
            <a:ext cx="2065263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50" b="1">
                <a:solidFill>
                  <a:srgbClr val="1C345B"/>
                </a:solidFill>
                <a:latin typeface="Microsoft YaHei"/>
                <a:ea typeface="Microsoft YaHei"/>
                <a:cs typeface="Microsoft YaHei"/>
              </a:rPr>
              <a:t>方法框架</a:t>
            </a:r>
          </a:p>
        </p:txBody>
      </p:sp>
      <p:sp>
        <p:nvSpPr>
          <p:cNvPr id="9" name="Rectangle 8"/>
          <p:cNvSpPr/>
          <p:nvPr/>
        </p:nvSpPr>
        <p:spPr>
          <a:xfrm>
            <a:off x="5995903" y="0"/>
            <a:ext cx="2065263" cy="475488"/>
          </a:xfrm>
          <a:prstGeom prst="rect">
            <a:avLst/>
          </a:prstGeom>
          <a:solidFill>
            <a:srgbClr val="1C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95903" y="100584"/>
            <a:ext cx="2065263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主要结果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95903" y="146304"/>
            <a:ext cx="5486" cy="182880"/>
          </a:xfrm>
          <a:prstGeom prst="rect">
            <a:avLst/>
          </a:prstGeom>
          <a:solidFill>
            <a:srgbClr val="D2D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61167" y="0"/>
            <a:ext cx="2065263" cy="475488"/>
          </a:xfrm>
          <a:prstGeom prst="rect">
            <a:avLst/>
          </a:prstGeom>
          <a:solidFill>
            <a:srgbClr val="1C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61167" y="100584"/>
            <a:ext cx="2065263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总结展望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61167" y="146304"/>
            <a:ext cx="5486" cy="182880"/>
          </a:xfrm>
          <a:prstGeom prst="rect">
            <a:avLst/>
          </a:prstGeom>
          <a:solidFill>
            <a:srgbClr val="D2D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126431" y="0"/>
            <a:ext cx="2065263" cy="475488"/>
          </a:xfrm>
          <a:prstGeom prst="rect">
            <a:avLst/>
          </a:prstGeom>
          <a:solidFill>
            <a:srgbClr val="1C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126431" y="100584"/>
            <a:ext cx="2065263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细节补充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126431" y="146304"/>
            <a:ext cx="5486" cy="182880"/>
          </a:xfrm>
          <a:prstGeom prst="rect">
            <a:avLst/>
          </a:prstGeom>
          <a:solidFill>
            <a:srgbClr val="D2D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475488"/>
            <a:ext cx="12191695" cy="292608"/>
          </a:xfrm>
          <a:prstGeom prst="rect">
            <a:avLst/>
          </a:prstGeom>
          <a:solidFill>
            <a:srgbClr val="355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65376" y="525780"/>
            <a:ext cx="1290789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8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1.总体流程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56165" y="539496"/>
            <a:ext cx="3657" cy="164592"/>
          </a:xfrm>
          <a:prstGeom prst="rect">
            <a:avLst/>
          </a:prstGeom>
          <a:solidFill>
            <a:srgbClr val="85A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56165" y="525780"/>
            <a:ext cx="1290789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8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2.数据来源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46955" y="539496"/>
            <a:ext cx="3657" cy="164592"/>
          </a:xfrm>
          <a:prstGeom prst="rect">
            <a:avLst/>
          </a:prstGeom>
          <a:solidFill>
            <a:srgbClr val="85A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46955" y="525780"/>
            <a:ext cx="1290789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8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3.概念抽取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37745" y="475488"/>
            <a:ext cx="1290789" cy="292608"/>
          </a:xfrm>
          <a:prstGeom prst="rect">
            <a:avLst/>
          </a:prstGeom>
          <a:solidFill>
            <a:srgbClr val="5785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737745" y="539496"/>
            <a:ext cx="3657" cy="164592"/>
          </a:xfrm>
          <a:prstGeom prst="rect">
            <a:avLst/>
          </a:prstGeom>
          <a:solidFill>
            <a:srgbClr val="85A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37745" y="525780"/>
            <a:ext cx="1290789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8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4.概念图与表征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028535" y="539496"/>
            <a:ext cx="3657" cy="164592"/>
          </a:xfrm>
          <a:prstGeom prst="rect">
            <a:avLst/>
          </a:prstGeom>
          <a:solidFill>
            <a:srgbClr val="85A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28535" y="525780"/>
            <a:ext cx="1290789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8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5.链路预测任务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319325" y="539496"/>
            <a:ext cx="3657" cy="164592"/>
          </a:xfrm>
          <a:prstGeom prst="rect">
            <a:avLst/>
          </a:prstGeom>
          <a:solidFill>
            <a:srgbClr val="85A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19325" y="525780"/>
            <a:ext cx="1290789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8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6.模型输入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10115" y="539496"/>
            <a:ext cx="3657" cy="164592"/>
          </a:xfrm>
          <a:prstGeom prst="rect">
            <a:avLst/>
          </a:prstGeom>
          <a:solidFill>
            <a:srgbClr val="85A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10115" y="525780"/>
            <a:ext cx="1290789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8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7.预测模型架构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900905" y="539496"/>
            <a:ext cx="3657" cy="164592"/>
          </a:xfrm>
          <a:prstGeom prst="rect">
            <a:avLst/>
          </a:prstGeom>
          <a:solidFill>
            <a:srgbClr val="85A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900905" y="525780"/>
            <a:ext cx="1290789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8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8.训练评估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355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384280" y="6473952"/>
            <a:ext cx="384048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800" b="0">
                <a:solidFill>
                  <a:srgbClr val="636B74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08" y="1060704"/>
            <a:ext cx="10287000" cy="32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550" b="1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抽取概念和发表日期被转成 time-stamped concept graph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6112" y="1458976"/>
            <a:ext cx="10140696" cy="10830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250"/>
              </a:spcAft>
            </a:pPr>
            <a:r>
              <a:rPr sz="1360" b="1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• 节点：</a:t>
            </a:r>
            <a:r>
              <a:rPr sz="1360" b="0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distinct concepts，包括 LLM 抽取概念和 parser 抽取的化学式</a:t>
            </a:r>
          </a:p>
          <a:p>
            <a:pPr>
              <a:spcAft>
                <a:spcPts val="250"/>
              </a:spcAft>
            </a:pPr>
            <a:r>
              <a:rPr sz="1360" b="1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• 边：</a:t>
            </a:r>
            <a:r>
              <a:rPr sz="1360" b="0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同一摘要内概念两两形成 clique，边的时间戳为论文发表日期</a:t>
            </a:r>
          </a:p>
          <a:p>
            <a:pPr>
              <a:spcAft>
                <a:spcPts val="250"/>
              </a:spcAft>
            </a:pPr>
            <a:r>
              <a:rPr sz="1360" b="1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• 多重边：</a:t>
            </a:r>
            <a:r>
              <a:rPr sz="1360" b="0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同一概念对可在多篇摘要中重复共现，保留历史共现强度</a:t>
            </a:r>
          </a:p>
          <a:p>
            <a:pPr>
              <a:spcAft>
                <a:spcPts val="250"/>
              </a:spcAft>
            </a:pPr>
            <a:r>
              <a:rPr sz="1360" b="1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• 时间子图：</a:t>
            </a:r>
            <a:r>
              <a:rPr sz="1360" b="0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原文记为 G_t subgraph，由只包含 timestamp ≤ t 的 edge list 定义</a:t>
            </a:r>
          </a:p>
        </p:txBody>
      </p:sp>
      <p:pic>
        <p:nvPicPr>
          <p:cNvPr id="39" name="Picture 38" descr="concept_graph_representation_pipeline_schemat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8103" y="2834640"/>
            <a:ext cx="8095488" cy="3035808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363827" y="5911596"/>
            <a:ext cx="946404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700" b="0">
                <a:solidFill>
                  <a:srgbClr val="636B74"/>
                </a:solidFill>
                <a:latin typeface="Microsoft YaHei"/>
                <a:ea typeface="Microsoft YaHei"/>
                <a:cs typeface="Microsoft YaHei"/>
              </a:rPr>
              <a:t>自绘示意图，概括从 OpenAlex 文献记录到 time-stamped concept graph、G_t 时间子图和节点语义向量的构造流程；不是论文原图。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1C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65376" cy="475488"/>
          </a:xfrm>
          <a:prstGeom prst="rect">
            <a:avLst/>
          </a:prstGeom>
          <a:solidFill>
            <a:srgbClr val="1C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nu_wordmark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1627632" cy="36605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65376" y="0"/>
            <a:ext cx="2065263" cy="475488"/>
          </a:xfrm>
          <a:prstGeom prst="rect">
            <a:avLst/>
          </a:prstGeom>
          <a:solidFill>
            <a:srgbClr val="1C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65376" y="100584"/>
            <a:ext cx="2065263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绪论背景</a:t>
            </a:r>
          </a:p>
        </p:txBody>
      </p:sp>
      <p:sp>
        <p:nvSpPr>
          <p:cNvPr id="7" name="Rectangle 6"/>
          <p:cNvSpPr/>
          <p:nvPr/>
        </p:nvSpPr>
        <p:spPr>
          <a:xfrm>
            <a:off x="3930639" y="0"/>
            <a:ext cx="2065263" cy="475488"/>
          </a:xfrm>
          <a:prstGeom prst="rect">
            <a:avLst/>
          </a:prstGeom>
          <a:solidFill>
            <a:srgbClr val="F0C9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30639" y="100584"/>
            <a:ext cx="2065263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50" b="1">
                <a:solidFill>
                  <a:srgbClr val="1C345B"/>
                </a:solidFill>
                <a:latin typeface="Microsoft YaHei"/>
                <a:ea typeface="Microsoft YaHei"/>
                <a:cs typeface="Microsoft YaHei"/>
              </a:rPr>
              <a:t>方法框架</a:t>
            </a:r>
          </a:p>
        </p:txBody>
      </p:sp>
      <p:sp>
        <p:nvSpPr>
          <p:cNvPr id="9" name="Rectangle 8"/>
          <p:cNvSpPr/>
          <p:nvPr/>
        </p:nvSpPr>
        <p:spPr>
          <a:xfrm>
            <a:off x="5995903" y="0"/>
            <a:ext cx="2065263" cy="475488"/>
          </a:xfrm>
          <a:prstGeom prst="rect">
            <a:avLst/>
          </a:prstGeom>
          <a:solidFill>
            <a:srgbClr val="1C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95903" y="100584"/>
            <a:ext cx="2065263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主要结果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95903" y="146304"/>
            <a:ext cx="5486" cy="182880"/>
          </a:xfrm>
          <a:prstGeom prst="rect">
            <a:avLst/>
          </a:prstGeom>
          <a:solidFill>
            <a:srgbClr val="D2D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61167" y="0"/>
            <a:ext cx="2065263" cy="475488"/>
          </a:xfrm>
          <a:prstGeom prst="rect">
            <a:avLst/>
          </a:prstGeom>
          <a:solidFill>
            <a:srgbClr val="1C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61167" y="100584"/>
            <a:ext cx="2065263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总结展望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61167" y="146304"/>
            <a:ext cx="5486" cy="182880"/>
          </a:xfrm>
          <a:prstGeom prst="rect">
            <a:avLst/>
          </a:prstGeom>
          <a:solidFill>
            <a:srgbClr val="D2D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126431" y="0"/>
            <a:ext cx="2065263" cy="475488"/>
          </a:xfrm>
          <a:prstGeom prst="rect">
            <a:avLst/>
          </a:prstGeom>
          <a:solidFill>
            <a:srgbClr val="1C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126431" y="100584"/>
            <a:ext cx="2065263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细节补充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126431" y="146304"/>
            <a:ext cx="5486" cy="182880"/>
          </a:xfrm>
          <a:prstGeom prst="rect">
            <a:avLst/>
          </a:prstGeom>
          <a:solidFill>
            <a:srgbClr val="D2D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475488"/>
            <a:ext cx="12191695" cy="292608"/>
          </a:xfrm>
          <a:prstGeom prst="rect">
            <a:avLst/>
          </a:prstGeom>
          <a:solidFill>
            <a:srgbClr val="355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65376" y="525780"/>
            <a:ext cx="1290789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8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1.总体流程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56165" y="539496"/>
            <a:ext cx="3657" cy="164592"/>
          </a:xfrm>
          <a:prstGeom prst="rect">
            <a:avLst/>
          </a:prstGeom>
          <a:solidFill>
            <a:srgbClr val="85A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56165" y="525780"/>
            <a:ext cx="1290789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8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2.数据来源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46955" y="539496"/>
            <a:ext cx="3657" cy="164592"/>
          </a:xfrm>
          <a:prstGeom prst="rect">
            <a:avLst/>
          </a:prstGeom>
          <a:solidFill>
            <a:srgbClr val="85A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46955" y="525780"/>
            <a:ext cx="1290789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8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3.概念抽取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37745" y="475488"/>
            <a:ext cx="1290789" cy="292608"/>
          </a:xfrm>
          <a:prstGeom prst="rect">
            <a:avLst/>
          </a:prstGeom>
          <a:solidFill>
            <a:srgbClr val="5785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737745" y="539496"/>
            <a:ext cx="3657" cy="164592"/>
          </a:xfrm>
          <a:prstGeom prst="rect">
            <a:avLst/>
          </a:prstGeom>
          <a:solidFill>
            <a:srgbClr val="85A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37745" y="525780"/>
            <a:ext cx="1290789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8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4.概念图与表征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028535" y="539496"/>
            <a:ext cx="3657" cy="164592"/>
          </a:xfrm>
          <a:prstGeom prst="rect">
            <a:avLst/>
          </a:prstGeom>
          <a:solidFill>
            <a:srgbClr val="85A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28535" y="525780"/>
            <a:ext cx="1290789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8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5.链路预测任务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319325" y="539496"/>
            <a:ext cx="3657" cy="164592"/>
          </a:xfrm>
          <a:prstGeom prst="rect">
            <a:avLst/>
          </a:prstGeom>
          <a:solidFill>
            <a:srgbClr val="85A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19325" y="525780"/>
            <a:ext cx="1290789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8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6.模型输入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10115" y="539496"/>
            <a:ext cx="3657" cy="164592"/>
          </a:xfrm>
          <a:prstGeom prst="rect">
            <a:avLst/>
          </a:prstGeom>
          <a:solidFill>
            <a:srgbClr val="85A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10115" y="525780"/>
            <a:ext cx="1290789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8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7.预测模型架构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900905" y="539496"/>
            <a:ext cx="3657" cy="164592"/>
          </a:xfrm>
          <a:prstGeom prst="rect">
            <a:avLst/>
          </a:prstGeom>
          <a:solidFill>
            <a:srgbClr val="85A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900905" y="525780"/>
            <a:ext cx="1290789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8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8.训练评估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355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384280" y="6473952"/>
            <a:ext cx="384048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800" b="0">
                <a:solidFill>
                  <a:srgbClr val="636B74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08" y="1060704"/>
            <a:ext cx="10287000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450" b="1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MatSciBERT 将概念节点转成 768 维材料语义向量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6112" y="1444752"/>
            <a:ext cx="10140696" cy="1323593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250"/>
              </a:spcAft>
            </a:pPr>
            <a:r>
              <a:rPr sz="1260" b="1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• 工具：</a:t>
            </a:r>
            <a:r>
              <a:rPr sz="1260" b="0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对摘要和抽取概念都使用 MatSciBERT tokenizer/model</a:t>
            </a:r>
          </a:p>
          <a:p>
            <a:pPr>
              <a:spcAft>
                <a:spcPts val="250"/>
              </a:spcAft>
            </a:pPr>
            <a:r>
              <a:rPr sz="1260" b="1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• Verbatim concept：</a:t>
            </a:r>
            <a:r>
              <a:rPr sz="1260" b="0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若概念原样出现在摘要中，取对应 token embedding 的均值</a:t>
            </a:r>
          </a:p>
          <a:p>
            <a:pPr>
              <a:spcAft>
                <a:spcPts val="250"/>
              </a:spcAft>
            </a:pPr>
            <a:r>
              <a:rPr sz="1260" b="1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• Non-verbatim concept：</a:t>
            </a:r>
            <a:r>
              <a:rPr sz="1260" b="0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若概念被 LLM 归一化后不再原样出现，用摘要 token 均值近似</a:t>
            </a:r>
          </a:p>
          <a:p>
            <a:pPr>
              <a:spcAft>
                <a:spcPts val="250"/>
              </a:spcAft>
            </a:pPr>
            <a:r>
              <a:rPr sz="1260" b="1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• 节点产物：</a:t>
            </a:r>
            <a:r>
              <a:rPr sz="1260" b="0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同一 concept 跨摘要再平均，得到单一 768 维节点 embedding</a:t>
            </a:r>
          </a:p>
          <a:p>
            <a:pPr>
              <a:spcAft>
                <a:spcPts val="250"/>
              </a:spcAft>
            </a:pPr>
            <a:r>
              <a:rPr sz="1260" b="1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• 防泄漏：</a:t>
            </a:r>
            <a:r>
              <a:rPr sz="1260" b="0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训练/测试 embedding 只使用 cutoff year 之前的文本</a:t>
            </a:r>
          </a:p>
        </p:txBody>
      </p:sp>
      <p:pic>
        <p:nvPicPr>
          <p:cNvPr id="39" name="Picture 38" descr="fig4_official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3827" y="3288157"/>
            <a:ext cx="9464040" cy="2355086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363827" y="5684391"/>
            <a:ext cx="946404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700" b="0">
                <a:solidFill>
                  <a:srgbClr val="636B74"/>
                </a:solidFill>
                <a:latin typeface="Microsoft YaHei"/>
                <a:ea typeface="Microsoft YaHei"/>
                <a:cs typeface="Microsoft YaHei"/>
              </a:rPr>
              <a:t>Fig. 4，展示 verbatim 与 non-verbatim concepts 的 MatSciBERT embedding 计算方式。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1C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65376" cy="475488"/>
          </a:xfrm>
          <a:prstGeom prst="rect">
            <a:avLst/>
          </a:prstGeom>
          <a:solidFill>
            <a:srgbClr val="1C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nu_wordmark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1627632" cy="36605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65376" y="0"/>
            <a:ext cx="2065263" cy="475488"/>
          </a:xfrm>
          <a:prstGeom prst="rect">
            <a:avLst/>
          </a:prstGeom>
          <a:solidFill>
            <a:srgbClr val="1C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65376" y="100584"/>
            <a:ext cx="2065263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绪论背景</a:t>
            </a:r>
          </a:p>
        </p:txBody>
      </p:sp>
      <p:sp>
        <p:nvSpPr>
          <p:cNvPr id="7" name="Rectangle 6"/>
          <p:cNvSpPr/>
          <p:nvPr/>
        </p:nvSpPr>
        <p:spPr>
          <a:xfrm>
            <a:off x="3930639" y="0"/>
            <a:ext cx="2065263" cy="475488"/>
          </a:xfrm>
          <a:prstGeom prst="rect">
            <a:avLst/>
          </a:prstGeom>
          <a:solidFill>
            <a:srgbClr val="F0C9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30639" y="100584"/>
            <a:ext cx="2065263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50" b="1">
                <a:solidFill>
                  <a:srgbClr val="1C345B"/>
                </a:solidFill>
                <a:latin typeface="Microsoft YaHei"/>
                <a:ea typeface="Microsoft YaHei"/>
                <a:cs typeface="Microsoft YaHei"/>
              </a:rPr>
              <a:t>方法框架</a:t>
            </a:r>
          </a:p>
        </p:txBody>
      </p:sp>
      <p:sp>
        <p:nvSpPr>
          <p:cNvPr id="9" name="Rectangle 8"/>
          <p:cNvSpPr/>
          <p:nvPr/>
        </p:nvSpPr>
        <p:spPr>
          <a:xfrm>
            <a:off x="5995903" y="0"/>
            <a:ext cx="2065263" cy="475488"/>
          </a:xfrm>
          <a:prstGeom prst="rect">
            <a:avLst/>
          </a:prstGeom>
          <a:solidFill>
            <a:srgbClr val="1C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95903" y="100584"/>
            <a:ext cx="2065263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主要结果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95903" y="146304"/>
            <a:ext cx="5486" cy="182880"/>
          </a:xfrm>
          <a:prstGeom prst="rect">
            <a:avLst/>
          </a:prstGeom>
          <a:solidFill>
            <a:srgbClr val="D2D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61167" y="0"/>
            <a:ext cx="2065263" cy="475488"/>
          </a:xfrm>
          <a:prstGeom prst="rect">
            <a:avLst/>
          </a:prstGeom>
          <a:solidFill>
            <a:srgbClr val="1C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61167" y="100584"/>
            <a:ext cx="2065263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总结展望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61167" y="146304"/>
            <a:ext cx="5486" cy="182880"/>
          </a:xfrm>
          <a:prstGeom prst="rect">
            <a:avLst/>
          </a:prstGeom>
          <a:solidFill>
            <a:srgbClr val="D2D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126431" y="0"/>
            <a:ext cx="2065263" cy="475488"/>
          </a:xfrm>
          <a:prstGeom prst="rect">
            <a:avLst/>
          </a:prstGeom>
          <a:solidFill>
            <a:srgbClr val="1C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126431" y="100584"/>
            <a:ext cx="2065263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细节补充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126431" y="146304"/>
            <a:ext cx="5486" cy="182880"/>
          </a:xfrm>
          <a:prstGeom prst="rect">
            <a:avLst/>
          </a:prstGeom>
          <a:solidFill>
            <a:srgbClr val="D2D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475488"/>
            <a:ext cx="12191695" cy="292608"/>
          </a:xfrm>
          <a:prstGeom prst="rect">
            <a:avLst/>
          </a:prstGeom>
          <a:solidFill>
            <a:srgbClr val="355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65376" y="525780"/>
            <a:ext cx="1290789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8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1.总体流程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56165" y="539496"/>
            <a:ext cx="3657" cy="164592"/>
          </a:xfrm>
          <a:prstGeom prst="rect">
            <a:avLst/>
          </a:prstGeom>
          <a:solidFill>
            <a:srgbClr val="85A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56165" y="525780"/>
            <a:ext cx="1290789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8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2.数据来源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46955" y="539496"/>
            <a:ext cx="3657" cy="164592"/>
          </a:xfrm>
          <a:prstGeom prst="rect">
            <a:avLst/>
          </a:prstGeom>
          <a:solidFill>
            <a:srgbClr val="85A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46955" y="525780"/>
            <a:ext cx="1290789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8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3.概念抽取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37745" y="539496"/>
            <a:ext cx="3657" cy="164592"/>
          </a:xfrm>
          <a:prstGeom prst="rect">
            <a:avLst/>
          </a:prstGeom>
          <a:solidFill>
            <a:srgbClr val="85A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37745" y="525780"/>
            <a:ext cx="1290789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8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4.概念图与表征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28535" y="475488"/>
            <a:ext cx="1290789" cy="292608"/>
          </a:xfrm>
          <a:prstGeom prst="rect">
            <a:avLst/>
          </a:prstGeom>
          <a:solidFill>
            <a:srgbClr val="5785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028535" y="539496"/>
            <a:ext cx="3657" cy="164592"/>
          </a:xfrm>
          <a:prstGeom prst="rect">
            <a:avLst/>
          </a:prstGeom>
          <a:solidFill>
            <a:srgbClr val="85A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28535" y="525780"/>
            <a:ext cx="1290789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8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5.链路预测任务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319325" y="539496"/>
            <a:ext cx="3657" cy="164592"/>
          </a:xfrm>
          <a:prstGeom prst="rect">
            <a:avLst/>
          </a:prstGeom>
          <a:solidFill>
            <a:srgbClr val="85A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19325" y="525780"/>
            <a:ext cx="1290789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8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6.模型输入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10115" y="539496"/>
            <a:ext cx="3657" cy="164592"/>
          </a:xfrm>
          <a:prstGeom prst="rect">
            <a:avLst/>
          </a:prstGeom>
          <a:solidFill>
            <a:srgbClr val="85A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10115" y="525780"/>
            <a:ext cx="1290789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8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7.预测模型架构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900905" y="539496"/>
            <a:ext cx="3657" cy="164592"/>
          </a:xfrm>
          <a:prstGeom prst="rect">
            <a:avLst/>
          </a:prstGeom>
          <a:solidFill>
            <a:srgbClr val="85A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900905" y="525780"/>
            <a:ext cx="1290789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8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8.训练评估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355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384280" y="6473952"/>
            <a:ext cx="384048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800" b="0">
                <a:solidFill>
                  <a:srgbClr val="636B74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08" y="1060704"/>
            <a:ext cx="10287000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450" b="1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链路预测本质是时间概念图上的二分类任务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6112" y="1444752"/>
            <a:ext cx="10140696" cy="14447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250"/>
              </a:spcAft>
            </a:pPr>
            <a:r>
              <a:rPr sz="1260" b="1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• 时间窗：</a:t>
            </a:r>
            <a:r>
              <a:rPr sz="1260" b="0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训练历史≤2016、预测 2017-2019；测试历史≤2019、预测 2020-2022</a:t>
            </a:r>
          </a:p>
          <a:p>
            <a:pPr>
              <a:spcAft>
                <a:spcPts val="250"/>
              </a:spcAft>
            </a:pPr>
            <a:r>
              <a:rPr sz="1260" b="1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• 样本构造：</a:t>
            </a:r>
            <a:r>
              <a:rPr sz="1260" b="0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只取预测窗口开始前未直接共现的概念对 (u,v) 作为候选</a:t>
            </a:r>
          </a:p>
          <a:p>
            <a:pPr>
              <a:spcAft>
                <a:spcPts val="250"/>
              </a:spcAft>
            </a:pPr>
            <a:r>
              <a:rPr sz="1260" b="1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• 二分类标签：</a:t>
            </a:r>
            <a:r>
              <a:rPr sz="1260" b="0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窗口内首次形成共现边则 y(u,v)=1，否则为 0</a:t>
            </a:r>
          </a:p>
          <a:p>
            <a:pPr>
              <a:spcAft>
                <a:spcPts val="250"/>
              </a:spcAft>
            </a:pPr>
            <a:r>
              <a:rPr sz="1260" b="1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• 类别不平衡与过采样：</a:t>
            </a:r>
            <a:r>
              <a:rPr sz="1260" b="0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测试约 2,000,000 对仅 307 正例；训练 batch 正例过采样到 30%</a:t>
            </a:r>
          </a:p>
          <a:p>
            <a:pPr>
              <a:spcAft>
                <a:spcPts val="250"/>
              </a:spcAft>
            </a:pPr>
            <a:r>
              <a:rPr sz="1260" b="1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• 输出用途：</a:t>
            </a:r>
            <a:r>
              <a:rPr sz="1260" b="0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模型输出 p(u,v)；训练是二分类，应用时按概率排序候选</a:t>
            </a:r>
          </a:p>
        </p:txBody>
      </p:sp>
      <p:pic>
        <p:nvPicPr>
          <p:cNvPr id="39" name="Picture 38" descr="link_prediction_task_definition_schemat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1399" y="3182112"/>
            <a:ext cx="7168896" cy="2688336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363827" y="5911596"/>
            <a:ext cx="946404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700" b="0">
                <a:solidFill>
                  <a:srgbClr val="636B74"/>
                </a:solidFill>
                <a:latin typeface="Microsoft YaHei"/>
                <a:ea typeface="Microsoft YaHei"/>
                <a:cs typeface="Microsoft YaHei"/>
              </a:rPr>
              <a:t>自绘示意图，按论文 Methods 和 Supplementary test set construction 概括链路预测任务定义。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1C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65376" cy="475488"/>
          </a:xfrm>
          <a:prstGeom prst="rect">
            <a:avLst/>
          </a:prstGeom>
          <a:solidFill>
            <a:srgbClr val="1C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nu_wordmark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1627632" cy="36605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65376" y="0"/>
            <a:ext cx="2065263" cy="475488"/>
          </a:xfrm>
          <a:prstGeom prst="rect">
            <a:avLst/>
          </a:prstGeom>
          <a:solidFill>
            <a:srgbClr val="1C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65376" y="100584"/>
            <a:ext cx="2065263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绪论背景</a:t>
            </a:r>
          </a:p>
        </p:txBody>
      </p:sp>
      <p:sp>
        <p:nvSpPr>
          <p:cNvPr id="7" name="Rectangle 6"/>
          <p:cNvSpPr/>
          <p:nvPr/>
        </p:nvSpPr>
        <p:spPr>
          <a:xfrm>
            <a:off x="3930639" y="0"/>
            <a:ext cx="2065263" cy="475488"/>
          </a:xfrm>
          <a:prstGeom prst="rect">
            <a:avLst/>
          </a:prstGeom>
          <a:solidFill>
            <a:srgbClr val="F0C9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30639" y="100584"/>
            <a:ext cx="2065263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50" b="1">
                <a:solidFill>
                  <a:srgbClr val="1C345B"/>
                </a:solidFill>
                <a:latin typeface="Microsoft YaHei"/>
                <a:ea typeface="Microsoft YaHei"/>
                <a:cs typeface="Microsoft YaHei"/>
              </a:rPr>
              <a:t>方法框架</a:t>
            </a:r>
          </a:p>
        </p:txBody>
      </p:sp>
      <p:sp>
        <p:nvSpPr>
          <p:cNvPr id="9" name="Rectangle 8"/>
          <p:cNvSpPr/>
          <p:nvPr/>
        </p:nvSpPr>
        <p:spPr>
          <a:xfrm>
            <a:off x="5995903" y="0"/>
            <a:ext cx="2065263" cy="475488"/>
          </a:xfrm>
          <a:prstGeom prst="rect">
            <a:avLst/>
          </a:prstGeom>
          <a:solidFill>
            <a:srgbClr val="1C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95903" y="100584"/>
            <a:ext cx="2065263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主要结果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95903" y="146304"/>
            <a:ext cx="5486" cy="182880"/>
          </a:xfrm>
          <a:prstGeom prst="rect">
            <a:avLst/>
          </a:prstGeom>
          <a:solidFill>
            <a:srgbClr val="D2D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61167" y="0"/>
            <a:ext cx="2065263" cy="475488"/>
          </a:xfrm>
          <a:prstGeom prst="rect">
            <a:avLst/>
          </a:prstGeom>
          <a:solidFill>
            <a:srgbClr val="1C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61167" y="100584"/>
            <a:ext cx="2065263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总结展望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61167" y="146304"/>
            <a:ext cx="5486" cy="182880"/>
          </a:xfrm>
          <a:prstGeom prst="rect">
            <a:avLst/>
          </a:prstGeom>
          <a:solidFill>
            <a:srgbClr val="D2D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126431" y="0"/>
            <a:ext cx="2065263" cy="475488"/>
          </a:xfrm>
          <a:prstGeom prst="rect">
            <a:avLst/>
          </a:prstGeom>
          <a:solidFill>
            <a:srgbClr val="1C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126431" y="100584"/>
            <a:ext cx="2065263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细节补充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126431" y="146304"/>
            <a:ext cx="5486" cy="182880"/>
          </a:xfrm>
          <a:prstGeom prst="rect">
            <a:avLst/>
          </a:prstGeom>
          <a:solidFill>
            <a:srgbClr val="D2D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475488"/>
            <a:ext cx="12191695" cy="292608"/>
          </a:xfrm>
          <a:prstGeom prst="rect">
            <a:avLst/>
          </a:prstGeom>
          <a:solidFill>
            <a:srgbClr val="355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65376" y="525780"/>
            <a:ext cx="1290789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8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1.总体流程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56165" y="539496"/>
            <a:ext cx="3657" cy="164592"/>
          </a:xfrm>
          <a:prstGeom prst="rect">
            <a:avLst/>
          </a:prstGeom>
          <a:solidFill>
            <a:srgbClr val="85A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56165" y="525780"/>
            <a:ext cx="1290789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8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2.数据来源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46955" y="539496"/>
            <a:ext cx="3657" cy="164592"/>
          </a:xfrm>
          <a:prstGeom prst="rect">
            <a:avLst/>
          </a:prstGeom>
          <a:solidFill>
            <a:srgbClr val="85A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46955" y="525780"/>
            <a:ext cx="1290789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8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3.概念抽取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37745" y="539496"/>
            <a:ext cx="3657" cy="164592"/>
          </a:xfrm>
          <a:prstGeom prst="rect">
            <a:avLst/>
          </a:prstGeom>
          <a:solidFill>
            <a:srgbClr val="85A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37745" y="525780"/>
            <a:ext cx="1290789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8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4.概念图与表征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28535" y="539496"/>
            <a:ext cx="3657" cy="164592"/>
          </a:xfrm>
          <a:prstGeom prst="rect">
            <a:avLst/>
          </a:prstGeom>
          <a:solidFill>
            <a:srgbClr val="85A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28535" y="525780"/>
            <a:ext cx="1290789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8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5.链路预测任务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319325" y="475488"/>
            <a:ext cx="1290789" cy="292608"/>
          </a:xfrm>
          <a:prstGeom prst="rect">
            <a:avLst/>
          </a:prstGeom>
          <a:solidFill>
            <a:srgbClr val="5785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319325" y="539496"/>
            <a:ext cx="3657" cy="164592"/>
          </a:xfrm>
          <a:prstGeom prst="rect">
            <a:avLst/>
          </a:prstGeom>
          <a:solidFill>
            <a:srgbClr val="85A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19325" y="525780"/>
            <a:ext cx="1290789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8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6.模型输入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10115" y="539496"/>
            <a:ext cx="3657" cy="164592"/>
          </a:xfrm>
          <a:prstGeom prst="rect">
            <a:avLst/>
          </a:prstGeom>
          <a:solidFill>
            <a:srgbClr val="85A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10115" y="525780"/>
            <a:ext cx="1290789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8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7.预测模型架构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900905" y="539496"/>
            <a:ext cx="3657" cy="164592"/>
          </a:xfrm>
          <a:prstGeom prst="rect">
            <a:avLst/>
          </a:prstGeom>
          <a:solidFill>
            <a:srgbClr val="85A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900905" y="525780"/>
            <a:ext cx="1290789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8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8.训练评估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355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384280" y="6473952"/>
            <a:ext cx="384048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800" b="0">
                <a:solidFill>
                  <a:srgbClr val="636B74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08" y="1060704"/>
            <a:ext cx="10287000" cy="32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550" b="1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同一候选概念对 (u, v)在不同预测模型中的特征输入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6112" y="1458976"/>
            <a:ext cx="10140696" cy="84521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250"/>
              </a:spcAft>
            </a:pPr>
            <a:r>
              <a:rPr sz="1360" b="1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• 拓扑向量：</a:t>
            </a:r>
            <a:r>
              <a:rPr sz="1360" b="0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5 个历史年份 × 两个节点 × degree/2-hop path，得到 20 维</a:t>
            </a:r>
          </a:p>
          <a:p>
            <a:pPr>
              <a:spcAft>
                <a:spcPts val="250"/>
              </a:spcAft>
            </a:pPr>
            <a:r>
              <a:rPr sz="1360" b="1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• 语义向量：</a:t>
            </a:r>
            <a:r>
              <a:rPr sz="1360" b="0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两个 768 维 MatSciBERT concept embedding 拼接，得到 1536 维</a:t>
            </a:r>
          </a:p>
          <a:p>
            <a:pPr>
              <a:spcAft>
                <a:spcPts val="250"/>
              </a:spcAft>
            </a:pPr>
            <a:r>
              <a:rPr sz="1360" b="1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• GNN 输入：</a:t>
            </a:r>
            <a:r>
              <a:rPr sz="1360" b="0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历史 concept graph topology + baseline topology vectors 作为节点初始表示</a:t>
            </a:r>
          </a:p>
        </p:txBody>
      </p:sp>
      <p:pic>
        <p:nvPicPr>
          <p:cNvPr id="39" name="Picture 38" descr="link_prediction_model_family_schemat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3827" y="2814015"/>
            <a:ext cx="9464040" cy="2839212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363827" y="5694375"/>
            <a:ext cx="946404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700" b="0">
                <a:solidFill>
                  <a:srgbClr val="636B74"/>
                </a:solidFill>
                <a:latin typeface="Microsoft YaHei"/>
                <a:ea typeface="Microsoft YaHei"/>
                <a:cs typeface="Microsoft YaHei"/>
              </a:rPr>
              <a:t>自绘示意图，区分链路预测的输入特征、预测架构与输出概率融合；不是论文原图。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1C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65376" cy="475488"/>
          </a:xfrm>
          <a:prstGeom prst="rect">
            <a:avLst/>
          </a:prstGeom>
          <a:solidFill>
            <a:srgbClr val="1C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nu_wordmark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1627632" cy="36605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65376" y="0"/>
            <a:ext cx="2065263" cy="475488"/>
          </a:xfrm>
          <a:prstGeom prst="rect">
            <a:avLst/>
          </a:prstGeom>
          <a:solidFill>
            <a:srgbClr val="1C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65376" y="100584"/>
            <a:ext cx="2065263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绪论背景</a:t>
            </a:r>
          </a:p>
        </p:txBody>
      </p:sp>
      <p:sp>
        <p:nvSpPr>
          <p:cNvPr id="7" name="Rectangle 6"/>
          <p:cNvSpPr/>
          <p:nvPr/>
        </p:nvSpPr>
        <p:spPr>
          <a:xfrm>
            <a:off x="3930639" y="0"/>
            <a:ext cx="2065263" cy="475488"/>
          </a:xfrm>
          <a:prstGeom prst="rect">
            <a:avLst/>
          </a:prstGeom>
          <a:solidFill>
            <a:srgbClr val="F0C9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30639" y="100584"/>
            <a:ext cx="2065263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50" b="1">
                <a:solidFill>
                  <a:srgbClr val="1C345B"/>
                </a:solidFill>
                <a:latin typeface="Microsoft YaHei"/>
                <a:ea typeface="Microsoft YaHei"/>
                <a:cs typeface="Microsoft YaHei"/>
              </a:rPr>
              <a:t>方法框架</a:t>
            </a:r>
          </a:p>
        </p:txBody>
      </p:sp>
      <p:sp>
        <p:nvSpPr>
          <p:cNvPr id="9" name="Rectangle 8"/>
          <p:cNvSpPr/>
          <p:nvPr/>
        </p:nvSpPr>
        <p:spPr>
          <a:xfrm>
            <a:off x="5995903" y="0"/>
            <a:ext cx="2065263" cy="475488"/>
          </a:xfrm>
          <a:prstGeom prst="rect">
            <a:avLst/>
          </a:prstGeom>
          <a:solidFill>
            <a:srgbClr val="1C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95903" y="100584"/>
            <a:ext cx="2065263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主要结果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95903" y="146304"/>
            <a:ext cx="5486" cy="182880"/>
          </a:xfrm>
          <a:prstGeom prst="rect">
            <a:avLst/>
          </a:prstGeom>
          <a:solidFill>
            <a:srgbClr val="D2D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61167" y="0"/>
            <a:ext cx="2065263" cy="475488"/>
          </a:xfrm>
          <a:prstGeom prst="rect">
            <a:avLst/>
          </a:prstGeom>
          <a:solidFill>
            <a:srgbClr val="1C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61167" y="100584"/>
            <a:ext cx="2065263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总结展望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61167" y="146304"/>
            <a:ext cx="5486" cy="182880"/>
          </a:xfrm>
          <a:prstGeom prst="rect">
            <a:avLst/>
          </a:prstGeom>
          <a:solidFill>
            <a:srgbClr val="D2D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126431" y="0"/>
            <a:ext cx="2065263" cy="475488"/>
          </a:xfrm>
          <a:prstGeom prst="rect">
            <a:avLst/>
          </a:prstGeom>
          <a:solidFill>
            <a:srgbClr val="1C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126431" y="100584"/>
            <a:ext cx="2065263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细节补充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126431" y="146304"/>
            <a:ext cx="5486" cy="182880"/>
          </a:xfrm>
          <a:prstGeom prst="rect">
            <a:avLst/>
          </a:prstGeom>
          <a:solidFill>
            <a:srgbClr val="D2D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475488"/>
            <a:ext cx="12191695" cy="292608"/>
          </a:xfrm>
          <a:prstGeom prst="rect">
            <a:avLst/>
          </a:prstGeom>
          <a:solidFill>
            <a:srgbClr val="355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65376" y="525780"/>
            <a:ext cx="1290789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8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1.总体流程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56165" y="539496"/>
            <a:ext cx="3657" cy="164592"/>
          </a:xfrm>
          <a:prstGeom prst="rect">
            <a:avLst/>
          </a:prstGeom>
          <a:solidFill>
            <a:srgbClr val="85A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56165" y="525780"/>
            <a:ext cx="1290789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8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2.数据来源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46955" y="539496"/>
            <a:ext cx="3657" cy="164592"/>
          </a:xfrm>
          <a:prstGeom prst="rect">
            <a:avLst/>
          </a:prstGeom>
          <a:solidFill>
            <a:srgbClr val="85A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46955" y="525780"/>
            <a:ext cx="1290789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8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3.概念抽取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37745" y="539496"/>
            <a:ext cx="3657" cy="164592"/>
          </a:xfrm>
          <a:prstGeom prst="rect">
            <a:avLst/>
          </a:prstGeom>
          <a:solidFill>
            <a:srgbClr val="85A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37745" y="525780"/>
            <a:ext cx="1290789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8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4.概念图与表征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28535" y="539496"/>
            <a:ext cx="3657" cy="164592"/>
          </a:xfrm>
          <a:prstGeom prst="rect">
            <a:avLst/>
          </a:prstGeom>
          <a:solidFill>
            <a:srgbClr val="85A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28535" y="525780"/>
            <a:ext cx="1290789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8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5.链路预测任务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319325" y="539496"/>
            <a:ext cx="3657" cy="164592"/>
          </a:xfrm>
          <a:prstGeom prst="rect">
            <a:avLst/>
          </a:prstGeom>
          <a:solidFill>
            <a:srgbClr val="85A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19325" y="525780"/>
            <a:ext cx="1290789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8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6.模型输入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610115" y="475488"/>
            <a:ext cx="1290789" cy="292608"/>
          </a:xfrm>
          <a:prstGeom prst="rect">
            <a:avLst/>
          </a:prstGeom>
          <a:solidFill>
            <a:srgbClr val="5785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610115" y="539496"/>
            <a:ext cx="3657" cy="164592"/>
          </a:xfrm>
          <a:prstGeom prst="rect">
            <a:avLst/>
          </a:prstGeom>
          <a:solidFill>
            <a:srgbClr val="85A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10115" y="525780"/>
            <a:ext cx="1290789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8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7.预测模型架构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900905" y="539496"/>
            <a:ext cx="3657" cy="164592"/>
          </a:xfrm>
          <a:prstGeom prst="rect">
            <a:avLst/>
          </a:prstGeom>
          <a:solidFill>
            <a:srgbClr val="85A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900905" y="525780"/>
            <a:ext cx="1290789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8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8.训练评估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355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384280" y="6473952"/>
            <a:ext cx="384048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800" b="0">
                <a:solidFill>
                  <a:srgbClr val="636B74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08" y="1060704"/>
            <a:ext cx="10287000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350" b="1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预测架构分为 dense NN、GraphSAGE GNN 和两种概率融合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6112" y="1444752"/>
            <a:ext cx="10140696" cy="12385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250"/>
              </a:spcAft>
            </a:pPr>
            <a:r>
              <a:rPr sz="1160" b="1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• Baseline / Embeddings / Combination：</a:t>
            </a:r>
            <a:r>
              <a:rPr sz="1160" b="0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向量输入的 modified densely connected NN / MLP-style classifier</a:t>
            </a:r>
          </a:p>
          <a:p>
            <a:pPr>
              <a:spcAft>
                <a:spcPts val="250"/>
              </a:spcAft>
            </a:pPr>
            <a:r>
              <a:rPr sz="1160" b="1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• GNN @ Features：</a:t>
            </a:r>
            <a:r>
              <a:rPr sz="1160" b="0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2-layer GraphSAGE encoder + neighbour sampling + MLP decoder</a:t>
            </a:r>
          </a:p>
          <a:p>
            <a:pPr>
              <a:spcAft>
                <a:spcPts val="250"/>
              </a:spcAft>
            </a:pPr>
            <a:r>
              <a:rPr sz="1160" b="1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• Mixture: Baseline &amp; Embeddings：</a:t>
            </a:r>
            <a:r>
              <a:rPr sz="1160" b="0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p_mix(u,v)=3/5 p_topology(u,v)+2/5 p_semantic(u,v)</a:t>
            </a:r>
          </a:p>
          <a:p>
            <a:pPr>
              <a:spcAft>
                <a:spcPts val="250"/>
              </a:spcAft>
            </a:pPr>
            <a:r>
              <a:rPr sz="1160" b="1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• Mixture: GNN &amp; Embeddings：</a:t>
            </a:r>
            <a:r>
              <a:rPr sz="1160" b="0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p_mix(u,v)=1/2 p_GNN(u,v)+1/2 p_semantic(u,v)</a:t>
            </a:r>
          </a:p>
          <a:p>
            <a:pPr>
              <a:spcAft>
                <a:spcPts val="250"/>
              </a:spcAft>
            </a:pPr>
            <a:r>
              <a:rPr sz="1160" b="0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• Mixture 是已训练模型输出概率的加权平均，不是特征拼接后重训</a:t>
            </a:r>
          </a:p>
        </p:txBody>
      </p:sp>
      <p:pic>
        <p:nvPicPr>
          <p:cNvPr id="39" name="Picture 38" descr="link_prediction_model_family_schemat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3827" y="3003550"/>
            <a:ext cx="9464040" cy="2839212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363827" y="5883910"/>
            <a:ext cx="946404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700" b="0">
                <a:solidFill>
                  <a:srgbClr val="636B74"/>
                </a:solidFill>
                <a:latin typeface="Microsoft YaHei"/>
                <a:ea typeface="Microsoft YaHei"/>
                <a:cs typeface="Microsoft YaHei"/>
              </a:rPr>
              <a:t>同一示意图强调“输入特征”和“预测架构”的分层：MatSciBERT/拓扑向量是输入，NN/GNN 是预测器。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1C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65376" cy="475488"/>
          </a:xfrm>
          <a:prstGeom prst="rect">
            <a:avLst/>
          </a:prstGeom>
          <a:solidFill>
            <a:srgbClr val="1C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nu_wordmark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1627632" cy="36605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65376" y="0"/>
            <a:ext cx="2065263" cy="475488"/>
          </a:xfrm>
          <a:prstGeom prst="rect">
            <a:avLst/>
          </a:prstGeom>
          <a:solidFill>
            <a:srgbClr val="1C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65376" y="100584"/>
            <a:ext cx="2065263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绪论背景</a:t>
            </a:r>
          </a:p>
        </p:txBody>
      </p:sp>
      <p:sp>
        <p:nvSpPr>
          <p:cNvPr id="7" name="Rectangle 6"/>
          <p:cNvSpPr/>
          <p:nvPr/>
        </p:nvSpPr>
        <p:spPr>
          <a:xfrm>
            <a:off x="3930639" y="0"/>
            <a:ext cx="2065263" cy="475488"/>
          </a:xfrm>
          <a:prstGeom prst="rect">
            <a:avLst/>
          </a:prstGeom>
          <a:solidFill>
            <a:srgbClr val="F0C9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30639" y="100584"/>
            <a:ext cx="2065263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50" b="1">
                <a:solidFill>
                  <a:srgbClr val="1C345B"/>
                </a:solidFill>
                <a:latin typeface="Microsoft YaHei"/>
                <a:ea typeface="Microsoft YaHei"/>
                <a:cs typeface="Microsoft YaHei"/>
              </a:rPr>
              <a:t>方法框架</a:t>
            </a:r>
          </a:p>
        </p:txBody>
      </p:sp>
      <p:sp>
        <p:nvSpPr>
          <p:cNvPr id="9" name="Rectangle 8"/>
          <p:cNvSpPr/>
          <p:nvPr/>
        </p:nvSpPr>
        <p:spPr>
          <a:xfrm>
            <a:off x="5995903" y="0"/>
            <a:ext cx="2065263" cy="475488"/>
          </a:xfrm>
          <a:prstGeom prst="rect">
            <a:avLst/>
          </a:prstGeom>
          <a:solidFill>
            <a:srgbClr val="1C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95903" y="100584"/>
            <a:ext cx="2065263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主要结果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95903" y="146304"/>
            <a:ext cx="5486" cy="182880"/>
          </a:xfrm>
          <a:prstGeom prst="rect">
            <a:avLst/>
          </a:prstGeom>
          <a:solidFill>
            <a:srgbClr val="D2D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61167" y="0"/>
            <a:ext cx="2065263" cy="475488"/>
          </a:xfrm>
          <a:prstGeom prst="rect">
            <a:avLst/>
          </a:prstGeom>
          <a:solidFill>
            <a:srgbClr val="1C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61167" y="100584"/>
            <a:ext cx="2065263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总结展望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61167" y="146304"/>
            <a:ext cx="5486" cy="182880"/>
          </a:xfrm>
          <a:prstGeom prst="rect">
            <a:avLst/>
          </a:prstGeom>
          <a:solidFill>
            <a:srgbClr val="D2D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126431" y="0"/>
            <a:ext cx="2065263" cy="475488"/>
          </a:xfrm>
          <a:prstGeom prst="rect">
            <a:avLst/>
          </a:prstGeom>
          <a:solidFill>
            <a:srgbClr val="1C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126431" y="100584"/>
            <a:ext cx="2065263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细节补充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126431" y="146304"/>
            <a:ext cx="5486" cy="182880"/>
          </a:xfrm>
          <a:prstGeom prst="rect">
            <a:avLst/>
          </a:prstGeom>
          <a:solidFill>
            <a:srgbClr val="D2D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475488"/>
            <a:ext cx="12191695" cy="292608"/>
          </a:xfrm>
          <a:prstGeom prst="rect">
            <a:avLst/>
          </a:prstGeom>
          <a:solidFill>
            <a:srgbClr val="355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65376" y="525780"/>
            <a:ext cx="1290789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8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1.总体流程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56165" y="539496"/>
            <a:ext cx="3657" cy="164592"/>
          </a:xfrm>
          <a:prstGeom prst="rect">
            <a:avLst/>
          </a:prstGeom>
          <a:solidFill>
            <a:srgbClr val="85A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56165" y="525780"/>
            <a:ext cx="1290789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8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2.数据来源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46955" y="539496"/>
            <a:ext cx="3657" cy="164592"/>
          </a:xfrm>
          <a:prstGeom prst="rect">
            <a:avLst/>
          </a:prstGeom>
          <a:solidFill>
            <a:srgbClr val="85A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46955" y="525780"/>
            <a:ext cx="1290789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8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3.概念抽取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37745" y="539496"/>
            <a:ext cx="3657" cy="164592"/>
          </a:xfrm>
          <a:prstGeom prst="rect">
            <a:avLst/>
          </a:prstGeom>
          <a:solidFill>
            <a:srgbClr val="85A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37745" y="525780"/>
            <a:ext cx="1290789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8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4.概念图与表征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28535" y="539496"/>
            <a:ext cx="3657" cy="164592"/>
          </a:xfrm>
          <a:prstGeom prst="rect">
            <a:avLst/>
          </a:prstGeom>
          <a:solidFill>
            <a:srgbClr val="85A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28535" y="525780"/>
            <a:ext cx="1290789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8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5.链路预测任务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319325" y="539496"/>
            <a:ext cx="3657" cy="164592"/>
          </a:xfrm>
          <a:prstGeom prst="rect">
            <a:avLst/>
          </a:prstGeom>
          <a:solidFill>
            <a:srgbClr val="85A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19325" y="525780"/>
            <a:ext cx="1290789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8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6.模型输入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610115" y="539496"/>
            <a:ext cx="3657" cy="164592"/>
          </a:xfrm>
          <a:prstGeom prst="rect">
            <a:avLst/>
          </a:prstGeom>
          <a:solidFill>
            <a:srgbClr val="85A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10115" y="525780"/>
            <a:ext cx="1290789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8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7.预测模型架构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900905" y="475488"/>
            <a:ext cx="1290789" cy="292608"/>
          </a:xfrm>
          <a:prstGeom prst="rect">
            <a:avLst/>
          </a:prstGeom>
          <a:solidFill>
            <a:srgbClr val="5785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900905" y="539496"/>
            <a:ext cx="3657" cy="164592"/>
          </a:xfrm>
          <a:prstGeom prst="rect">
            <a:avLst/>
          </a:prstGeom>
          <a:solidFill>
            <a:srgbClr val="85A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900905" y="525780"/>
            <a:ext cx="1290789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8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8.训练评估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355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384280" y="6473952"/>
            <a:ext cx="384048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800" b="0">
                <a:solidFill>
                  <a:srgbClr val="636B74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08" y="1060704"/>
            <a:ext cx="10287000" cy="32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550" b="1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链路预测模型最终服务于候选排序，而非确定性判定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6112" y="1458976"/>
            <a:ext cx="10140696" cy="10830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250"/>
              </a:spcAft>
            </a:pPr>
            <a:r>
              <a:rPr sz="1360" b="1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• 输出：</a:t>
            </a:r>
            <a:r>
              <a:rPr sz="1360" b="0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每个历史未连边概念对得到 p(u,v)，按分数排序生成候选</a:t>
            </a:r>
          </a:p>
          <a:p>
            <a:pPr>
              <a:spcAft>
                <a:spcPts val="250"/>
              </a:spcAft>
            </a:pPr>
            <a:r>
              <a:rPr sz="1360" b="1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• 训练取舍：</a:t>
            </a:r>
            <a:r>
              <a:rPr sz="1360" b="0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正例过采样提高 recall，但会牺牲 precision</a:t>
            </a:r>
          </a:p>
          <a:p>
            <a:pPr>
              <a:spcAft>
                <a:spcPts val="250"/>
              </a:spcAft>
            </a:pPr>
            <a:r>
              <a:rPr sz="1360" b="1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• 评估：</a:t>
            </a:r>
            <a:r>
              <a:rPr sz="1360" b="0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ROC/AUC 衡量排序能力；threshold=0.5 用于 Fig. 3 marker 和混淆矩阵</a:t>
            </a:r>
          </a:p>
          <a:p>
            <a:pPr>
              <a:spcAft>
                <a:spcPts val="250"/>
              </a:spcAft>
            </a:pPr>
            <a:r>
              <a:rPr sz="1360" b="1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• 使用边界：</a:t>
            </a:r>
            <a:r>
              <a:rPr sz="1360" b="0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false positives 多，必须由专家筛选和后续验证闭环处理</a:t>
            </a:r>
          </a:p>
        </p:txBody>
      </p:sp>
      <p:pic>
        <p:nvPicPr>
          <p:cNvPr id="39" name="Picture 38" descr="extended_data_fig4_official_ful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3827" y="3197685"/>
            <a:ext cx="9464040" cy="2309718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363827" y="5548551"/>
            <a:ext cx="946404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700" b="0">
                <a:solidFill>
                  <a:srgbClr val="636B74"/>
                </a:solidFill>
                <a:latin typeface="Microsoft YaHei"/>
                <a:ea typeface="Microsoft YaHei"/>
                <a:cs typeface="Microsoft YaHei"/>
              </a:rPr>
              <a:t>Extended Data Fig. 4，用虚线候选边示例说明模型如何给未来首次共现概念对打分。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1C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65376" cy="475488"/>
          </a:xfrm>
          <a:prstGeom prst="rect">
            <a:avLst/>
          </a:prstGeom>
          <a:solidFill>
            <a:srgbClr val="1C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nu_wordmark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1627632" cy="36605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65376" y="0"/>
            <a:ext cx="2065263" cy="475488"/>
          </a:xfrm>
          <a:prstGeom prst="rect">
            <a:avLst/>
          </a:prstGeom>
          <a:solidFill>
            <a:srgbClr val="1C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65376" y="100584"/>
            <a:ext cx="2065263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绪论背景</a:t>
            </a:r>
          </a:p>
        </p:txBody>
      </p:sp>
      <p:sp>
        <p:nvSpPr>
          <p:cNvPr id="7" name="Rectangle 6"/>
          <p:cNvSpPr/>
          <p:nvPr/>
        </p:nvSpPr>
        <p:spPr>
          <a:xfrm>
            <a:off x="3930639" y="0"/>
            <a:ext cx="2065263" cy="475488"/>
          </a:xfrm>
          <a:prstGeom prst="rect">
            <a:avLst/>
          </a:prstGeom>
          <a:solidFill>
            <a:srgbClr val="1C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30639" y="100584"/>
            <a:ext cx="2065263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方法框架</a:t>
            </a:r>
          </a:p>
        </p:txBody>
      </p:sp>
      <p:sp>
        <p:nvSpPr>
          <p:cNvPr id="9" name="Rectangle 8"/>
          <p:cNvSpPr/>
          <p:nvPr/>
        </p:nvSpPr>
        <p:spPr>
          <a:xfrm>
            <a:off x="3930639" y="146304"/>
            <a:ext cx="5486" cy="182880"/>
          </a:xfrm>
          <a:prstGeom prst="rect">
            <a:avLst/>
          </a:prstGeom>
          <a:solidFill>
            <a:srgbClr val="D2D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95903" y="0"/>
            <a:ext cx="2065263" cy="475488"/>
          </a:xfrm>
          <a:prstGeom prst="rect">
            <a:avLst/>
          </a:prstGeom>
          <a:solidFill>
            <a:srgbClr val="F0C9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95903" y="100584"/>
            <a:ext cx="2065263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50" b="1">
                <a:solidFill>
                  <a:srgbClr val="1C345B"/>
                </a:solidFill>
                <a:latin typeface="Microsoft YaHei"/>
                <a:ea typeface="Microsoft YaHei"/>
                <a:cs typeface="Microsoft YaHei"/>
              </a:rPr>
              <a:t>主要结果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61167" y="0"/>
            <a:ext cx="2065263" cy="475488"/>
          </a:xfrm>
          <a:prstGeom prst="rect">
            <a:avLst/>
          </a:prstGeom>
          <a:solidFill>
            <a:srgbClr val="1C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61167" y="100584"/>
            <a:ext cx="2065263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总结展望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61167" y="146304"/>
            <a:ext cx="5486" cy="182880"/>
          </a:xfrm>
          <a:prstGeom prst="rect">
            <a:avLst/>
          </a:prstGeom>
          <a:solidFill>
            <a:srgbClr val="D2D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126431" y="0"/>
            <a:ext cx="2065263" cy="475488"/>
          </a:xfrm>
          <a:prstGeom prst="rect">
            <a:avLst/>
          </a:prstGeom>
          <a:solidFill>
            <a:srgbClr val="1C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126431" y="100584"/>
            <a:ext cx="2065263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细节补充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126431" y="146304"/>
            <a:ext cx="5486" cy="182880"/>
          </a:xfrm>
          <a:prstGeom prst="rect">
            <a:avLst/>
          </a:prstGeom>
          <a:solidFill>
            <a:srgbClr val="D2D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475488"/>
            <a:ext cx="12191695" cy="292608"/>
          </a:xfrm>
          <a:prstGeom prst="rect">
            <a:avLst/>
          </a:prstGeom>
          <a:solidFill>
            <a:srgbClr val="355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865376" y="475488"/>
            <a:ext cx="2065263" cy="292608"/>
          </a:xfrm>
          <a:prstGeom prst="rect">
            <a:avLst/>
          </a:prstGeom>
          <a:solidFill>
            <a:srgbClr val="5785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865376" y="525780"/>
            <a:ext cx="2065263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8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1.材料科学地图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930639" y="539496"/>
            <a:ext cx="3657" cy="164592"/>
          </a:xfrm>
          <a:prstGeom prst="rect">
            <a:avLst/>
          </a:prstGeom>
          <a:solidFill>
            <a:srgbClr val="85A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30639" y="525780"/>
            <a:ext cx="2065263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8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2.预测性能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95903" y="539496"/>
            <a:ext cx="3657" cy="164592"/>
          </a:xfrm>
          <a:prstGeom prst="rect">
            <a:avLst/>
          </a:prstGeom>
          <a:solidFill>
            <a:srgbClr val="85A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95903" y="525780"/>
            <a:ext cx="2065263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8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3.远距离组合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61167" y="539496"/>
            <a:ext cx="3657" cy="164592"/>
          </a:xfrm>
          <a:prstGeom prst="rect">
            <a:avLst/>
          </a:prstGeom>
          <a:solidFill>
            <a:srgbClr val="85A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61167" y="525780"/>
            <a:ext cx="2065263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8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4.专家评估流程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126431" y="539496"/>
            <a:ext cx="3657" cy="164592"/>
          </a:xfrm>
          <a:prstGeom prst="rect">
            <a:avLst/>
          </a:prstGeom>
          <a:solidFill>
            <a:srgbClr val="85A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26431" y="525780"/>
            <a:ext cx="2065263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8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5.专家评估结果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355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384280" y="6473952"/>
            <a:ext cx="384048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800" b="0">
                <a:solidFill>
                  <a:srgbClr val="636B74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1133856"/>
            <a:ext cx="3977639" cy="352755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720" b="1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材料学地图可视化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1559763"/>
            <a:ext cx="3794759" cy="22433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• Fig. 2 将约 137,000 个概念节点投影到 2D UMAP 空间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• 黄色区域表示概念密度高，红点为 tile 内 highest-degree concepts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• 高频 hub 包括 mechanical property、x ray diffraction、scanning electron microscopy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• 注意：</a:t>
            </a:r>
            <a:r>
              <a:rPr sz="1500" b="0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UMAP 是语义可视化，不等于因果机制或真实图距离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3912819"/>
            <a:ext cx="3977639" cy="457200"/>
          </a:xfrm>
          <a:prstGeom prst="roundRect">
            <a:avLst/>
          </a:prstGeom>
          <a:solidFill>
            <a:srgbClr val="F3F6FA"/>
          </a:solidFill>
          <a:ln w="762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8952" y="3976827"/>
            <a:ext cx="3739895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940" b="1">
                <a:solidFill>
                  <a:srgbClr val="1C345B"/>
                </a:solidFill>
                <a:latin typeface="Microsoft YaHei"/>
                <a:ea typeface="Microsoft YaHei"/>
                <a:cs typeface="Microsoft YaHei"/>
              </a:rPr>
              <a:t>NOTE：Fig. 2 是本文最关键的可视化之一，展示了概念抽取后形成的材料科学语义地图。</a:t>
            </a:r>
          </a:p>
        </p:txBody>
      </p:sp>
      <p:pic>
        <p:nvPicPr>
          <p:cNvPr id="35" name="Picture 34" descr="fig2_official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0990" y="987552"/>
            <a:ext cx="5878931" cy="507492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4754880" y="6099048"/>
            <a:ext cx="6931152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700" b="0">
                <a:solidFill>
                  <a:srgbClr val="636B74"/>
                </a:solidFill>
                <a:latin typeface="Microsoft YaHei"/>
                <a:ea typeface="Microsoft YaHei"/>
                <a:cs typeface="Microsoft YaHei"/>
              </a:rPr>
              <a:t>Fig. 2，材料科学概念 embedding 的 UMAP 地图；黄色为高密度区域，红点为局部最高度概念。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1C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65376" cy="475488"/>
          </a:xfrm>
          <a:prstGeom prst="rect">
            <a:avLst/>
          </a:prstGeom>
          <a:solidFill>
            <a:srgbClr val="1C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nu_wordmark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1627632" cy="36605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65376" y="0"/>
            <a:ext cx="2065263" cy="475488"/>
          </a:xfrm>
          <a:prstGeom prst="rect">
            <a:avLst/>
          </a:prstGeom>
          <a:solidFill>
            <a:srgbClr val="1C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65376" y="100584"/>
            <a:ext cx="2065263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绪论背景</a:t>
            </a:r>
          </a:p>
        </p:txBody>
      </p:sp>
      <p:sp>
        <p:nvSpPr>
          <p:cNvPr id="7" name="Rectangle 6"/>
          <p:cNvSpPr/>
          <p:nvPr/>
        </p:nvSpPr>
        <p:spPr>
          <a:xfrm>
            <a:off x="3930639" y="0"/>
            <a:ext cx="2065263" cy="475488"/>
          </a:xfrm>
          <a:prstGeom prst="rect">
            <a:avLst/>
          </a:prstGeom>
          <a:solidFill>
            <a:srgbClr val="1C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30639" y="100584"/>
            <a:ext cx="2065263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方法框架</a:t>
            </a:r>
          </a:p>
        </p:txBody>
      </p:sp>
      <p:sp>
        <p:nvSpPr>
          <p:cNvPr id="9" name="Rectangle 8"/>
          <p:cNvSpPr/>
          <p:nvPr/>
        </p:nvSpPr>
        <p:spPr>
          <a:xfrm>
            <a:off x="3930639" y="146304"/>
            <a:ext cx="5486" cy="182880"/>
          </a:xfrm>
          <a:prstGeom prst="rect">
            <a:avLst/>
          </a:prstGeom>
          <a:solidFill>
            <a:srgbClr val="D2D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95903" y="0"/>
            <a:ext cx="2065263" cy="475488"/>
          </a:xfrm>
          <a:prstGeom prst="rect">
            <a:avLst/>
          </a:prstGeom>
          <a:solidFill>
            <a:srgbClr val="F0C9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95903" y="100584"/>
            <a:ext cx="2065263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50" b="1">
                <a:solidFill>
                  <a:srgbClr val="1C345B"/>
                </a:solidFill>
                <a:latin typeface="Microsoft YaHei"/>
                <a:ea typeface="Microsoft YaHei"/>
                <a:cs typeface="Microsoft YaHei"/>
              </a:rPr>
              <a:t>主要结果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61167" y="0"/>
            <a:ext cx="2065263" cy="475488"/>
          </a:xfrm>
          <a:prstGeom prst="rect">
            <a:avLst/>
          </a:prstGeom>
          <a:solidFill>
            <a:srgbClr val="1C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61167" y="100584"/>
            <a:ext cx="2065263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总结展望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61167" y="146304"/>
            <a:ext cx="5486" cy="182880"/>
          </a:xfrm>
          <a:prstGeom prst="rect">
            <a:avLst/>
          </a:prstGeom>
          <a:solidFill>
            <a:srgbClr val="D2D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126431" y="0"/>
            <a:ext cx="2065263" cy="475488"/>
          </a:xfrm>
          <a:prstGeom prst="rect">
            <a:avLst/>
          </a:prstGeom>
          <a:solidFill>
            <a:srgbClr val="1C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126431" y="100584"/>
            <a:ext cx="2065263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细节补充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126431" y="146304"/>
            <a:ext cx="5486" cy="182880"/>
          </a:xfrm>
          <a:prstGeom prst="rect">
            <a:avLst/>
          </a:prstGeom>
          <a:solidFill>
            <a:srgbClr val="D2D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475488"/>
            <a:ext cx="12191695" cy="292608"/>
          </a:xfrm>
          <a:prstGeom prst="rect">
            <a:avLst/>
          </a:prstGeom>
          <a:solidFill>
            <a:srgbClr val="355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65376" y="525780"/>
            <a:ext cx="2065263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8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1.材料科学地图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30639" y="475488"/>
            <a:ext cx="2065263" cy="292608"/>
          </a:xfrm>
          <a:prstGeom prst="rect">
            <a:avLst/>
          </a:prstGeom>
          <a:solidFill>
            <a:srgbClr val="5785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930639" y="539496"/>
            <a:ext cx="3657" cy="164592"/>
          </a:xfrm>
          <a:prstGeom prst="rect">
            <a:avLst/>
          </a:prstGeom>
          <a:solidFill>
            <a:srgbClr val="85A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30639" y="525780"/>
            <a:ext cx="2065263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8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2.预测性能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95903" y="539496"/>
            <a:ext cx="3657" cy="164592"/>
          </a:xfrm>
          <a:prstGeom prst="rect">
            <a:avLst/>
          </a:prstGeom>
          <a:solidFill>
            <a:srgbClr val="85A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95903" y="525780"/>
            <a:ext cx="2065263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8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3.远距离组合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61167" y="539496"/>
            <a:ext cx="3657" cy="164592"/>
          </a:xfrm>
          <a:prstGeom prst="rect">
            <a:avLst/>
          </a:prstGeom>
          <a:solidFill>
            <a:srgbClr val="85A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61167" y="525780"/>
            <a:ext cx="2065263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8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4.专家评估流程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126431" y="539496"/>
            <a:ext cx="3657" cy="164592"/>
          </a:xfrm>
          <a:prstGeom prst="rect">
            <a:avLst/>
          </a:prstGeom>
          <a:solidFill>
            <a:srgbClr val="85A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26431" y="525780"/>
            <a:ext cx="2065263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8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5.专家评估结果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355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384280" y="6473952"/>
            <a:ext cx="384048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800" b="0">
                <a:solidFill>
                  <a:srgbClr val="636B74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" y="1060704"/>
            <a:ext cx="10287000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450" b="1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Fig. 3a 看总体排序，Fig. 3b/c 拆出近邻与远距离组合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" y="1444752"/>
            <a:ext cx="10140696" cy="14447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250"/>
              </a:spcAft>
            </a:pPr>
            <a:r>
              <a:rPr sz="1260" b="1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• Fig. 3a：</a:t>
            </a:r>
            <a:r>
              <a:rPr sz="1260" b="0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全体测试集；GNN+Embedding AUC=0.9433 最高，说明拓扑与语义互补</a:t>
            </a:r>
          </a:p>
          <a:p>
            <a:pPr>
              <a:spcAft>
                <a:spcPts val="250"/>
              </a:spcAft>
            </a:pPr>
            <a:r>
              <a:rPr sz="1260" b="1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• Fig. 3b：</a:t>
            </a:r>
            <a:r>
              <a:rPr sz="1260" b="0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d_prev=2 近邻组合；GNN+Embedding AUC=0.9163，局部拓扑延伸仍很强</a:t>
            </a:r>
          </a:p>
          <a:p>
            <a:pPr>
              <a:spcAft>
                <a:spcPts val="250"/>
              </a:spcAft>
            </a:pPr>
            <a:r>
              <a:rPr sz="1260" b="1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• Fig. 3c：</a:t>
            </a:r>
            <a:r>
              <a:rPr sz="1260" b="0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d_prev=3 远距离组合；Baseline AUC 降到 0.6714，GNN+Embedding 升到 0.8387</a:t>
            </a:r>
          </a:p>
          <a:p>
            <a:pPr>
              <a:spcAft>
                <a:spcPts val="250"/>
              </a:spcAft>
            </a:pPr>
            <a:r>
              <a:rPr sz="1260" b="1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• 区别：</a:t>
            </a:r>
            <a:r>
              <a:rPr sz="1260" b="0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a 是总体平均，b 更像局部邻域延伸，c 更考验跨语义桥接能力</a:t>
            </a:r>
          </a:p>
          <a:p>
            <a:pPr>
              <a:spcAft>
                <a:spcPts val="250"/>
              </a:spcAft>
            </a:pPr>
            <a:r>
              <a:rPr sz="1260" b="1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• 注意：</a:t>
            </a:r>
            <a:r>
              <a:rPr sz="1260" b="0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AUC 是排序能力，不等于阈值 0.5 下的命中率</a:t>
            </a:r>
          </a:p>
        </p:txBody>
      </p:sp>
      <p:pic>
        <p:nvPicPr>
          <p:cNvPr id="33" name="Picture 32" descr="fig3_official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4498" y="3182112"/>
            <a:ext cx="8042698" cy="2688336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363827" y="5911596"/>
            <a:ext cx="946404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700" b="0">
                <a:solidFill>
                  <a:srgbClr val="636B74"/>
                </a:solidFill>
                <a:latin typeface="Microsoft YaHei"/>
                <a:ea typeface="Microsoft YaHei"/>
                <a:cs typeface="Microsoft YaHei"/>
              </a:rPr>
              <a:t>Fig. 3，ROC/AUC；marker 表示 threshold=0.5。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1C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65376" cy="475488"/>
          </a:xfrm>
          <a:prstGeom prst="rect">
            <a:avLst/>
          </a:prstGeom>
          <a:solidFill>
            <a:srgbClr val="1C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nu_wordmark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1627632" cy="36605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65376" y="0"/>
            <a:ext cx="2065263" cy="475488"/>
          </a:xfrm>
          <a:prstGeom prst="rect">
            <a:avLst/>
          </a:prstGeom>
          <a:solidFill>
            <a:srgbClr val="1C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65376" y="100584"/>
            <a:ext cx="2065263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绪论背景</a:t>
            </a:r>
          </a:p>
        </p:txBody>
      </p:sp>
      <p:sp>
        <p:nvSpPr>
          <p:cNvPr id="7" name="Rectangle 6"/>
          <p:cNvSpPr/>
          <p:nvPr/>
        </p:nvSpPr>
        <p:spPr>
          <a:xfrm>
            <a:off x="3930639" y="0"/>
            <a:ext cx="2065263" cy="475488"/>
          </a:xfrm>
          <a:prstGeom prst="rect">
            <a:avLst/>
          </a:prstGeom>
          <a:solidFill>
            <a:srgbClr val="1C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30639" y="100584"/>
            <a:ext cx="2065263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方法框架</a:t>
            </a:r>
          </a:p>
        </p:txBody>
      </p:sp>
      <p:sp>
        <p:nvSpPr>
          <p:cNvPr id="9" name="Rectangle 8"/>
          <p:cNvSpPr/>
          <p:nvPr/>
        </p:nvSpPr>
        <p:spPr>
          <a:xfrm>
            <a:off x="3930639" y="146304"/>
            <a:ext cx="5486" cy="182880"/>
          </a:xfrm>
          <a:prstGeom prst="rect">
            <a:avLst/>
          </a:prstGeom>
          <a:solidFill>
            <a:srgbClr val="D2D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95903" y="0"/>
            <a:ext cx="2065263" cy="475488"/>
          </a:xfrm>
          <a:prstGeom prst="rect">
            <a:avLst/>
          </a:prstGeom>
          <a:solidFill>
            <a:srgbClr val="F0C9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95903" y="100584"/>
            <a:ext cx="2065263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50" b="1">
                <a:solidFill>
                  <a:srgbClr val="1C345B"/>
                </a:solidFill>
                <a:latin typeface="Microsoft YaHei"/>
                <a:ea typeface="Microsoft YaHei"/>
                <a:cs typeface="Microsoft YaHei"/>
              </a:rPr>
              <a:t>主要结果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61167" y="0"/>
            <a:ext cx="2065263" cy="475488"/>
          </a:xfrm>
          <a:prstGeom prst="rect">
            <a:avLst/>
          </a:prstGeom>
          <a:solidFill>
            <a:srgbClr val="1C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61167" y="100584"/>
            <a:ext cx="2065263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总结展望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61167" y="146304"/>
            <a:ext cx="5486" cy="182880"/>
          </a:xfrm>
          <a:prstGeom prst="rect">
            <a:avLst/>
          </a:prstGeom>
          <a:solidFill>
            <a:srgbClr val="D2D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126431" y="0"/>
            <a:ext cx="2065263" cy="475488"/>
          </a:xfrm>
          <a:prstGeom prst="rect">
            <a:avLst/>
          </a:prstGeom>
          <a:solidFill>
            <a:srgbClr val="1C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126431" y="100584"/>
            <a:ext cx="2065263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细节补充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126431" y="146304"/>
            <a:ext cx="5486" cy="182880"/>
          </a:xfrm>
          <a:prstGeom prst="rect">
            <a:avLst/>
          </a:prstGeom>
          <a:solidFill>
            <a:srgbClr val="D2D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475488"/>
            <a:ext cx="12191695" cy="292608"/>
          </a:xfrm>
          <a:prstGeom prst="rect">
            <a:avLst/>
          </a:prstGeom>
          <a:solidFill>
            <a:srgbClr val="355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65376" y="525780"/>
            <a:ext cx="2065263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8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1.材料科学地图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30639" y="539496"/>
            <a:ext cx="3657" cy="164592"/>
          </a:xfrm>
          <a:prstGeom prst="rect">
            <a:avLst/>
          </a:prstGeom>
          <a:solidFill>
            <a:srgbClr val="85A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30639" y="525780"/>
            <a:ext cx="2065263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8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2.预测性能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95903" y="475488"/>
            <a:ext cx="2065263" cy="292608"/>
          </a:xfrm>
          <a:prstGeom prst="rect">
            <a:avLst/>
          </a:prstGeom>
          <a:solidFill>
            <a:srgbClr val="5785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95903" y="539496"/>
            <a:ext cx="3657" cy="164592"/>
          </a:xfrm>
          <a:prstGeom prst="rect">
            <a:avLst/>
          </a:prstGeom>
          <a:solidFill>
            <a:srgbClr val="85A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95903" y="525780"/>
            <a:ext cx="2065263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8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3.远距离组合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61167" y="539496"/>
            <a:ext cx="3657" cy="164592"/>
          </a:xfrm>
          <a:prstGeom prst="rect">
            <a:avLst/>
          </a:prstGeom>
          <a:solidFill>
            <a:srgbClr val="85A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61167" y="525780"/>
            <a:ext cx="2065263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8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4.专家评估流程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126431" y="539496"/>
            <a:ext cx="3657" cy="164592"/>
          </a:xfrm>
          <a:prstGeom prst="rect">
            <a:avLst/>
          </a:prstGeom>
          <a:solidFill>
            <a:srgbClr val="85A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26431" y="525780"/>
            <a:ext cx="2065263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8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5.专家评估结果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355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384280" y="6473952"/>
            <a:ext cx="384048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800" b="0">
                <a:solidFill>
                  <a:srgbClr val="636B74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" y="1060704"/>
            <a:ext cx="10287000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350" b="1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远距离组合揭示语义信息的作用和代价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" y="1444752"/>
            <a:ext cx="10140696" cy="14447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250"/>
              </a:spcAft>
            </a:pPr>
            <a:r>
              <a:rPr sz="1160" b="1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• d_prev：</a:t>
            </a:r>
            <a:r>
              <a:rPr sz="1160" b="0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在预测窗口开始前的历史图中，候选对 (u,v) 尚未直接成边时的最短路径距离</a:t>
            </a:r>
          </a:p>
          <a:p>
            <a:pPr>
              <a:spcAft>
                <a:spcPts val="250"/>
              </a:spcAft>
            </a:pPr>
            <a:r>
              <a:rPr sz="1160" b="1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• 含义：</a:t>
            </a:r>
            <a:r>
              <a:rPr sz="1160" b="0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2 表示 u-w-v 共享一个中间概念；3 表示需两个中间概念，离既有邻域更远</a:t>
            </a:r>
          </a:p>
          <a:p>
            <a:pPr>
              <a:spcAft>
                <a:spcPts val="250"/>
              </a:spcAft>
            </a:pPr>
            <a:r>
              <a:rPr sz="1160" b="1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• 表格读法：</a:t>
            </a:r>
            <a:r>
              <a:rPr sz="1160" b="0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按 d_prev=2/3 拆分 TP/FN/FP/TN，重点比较远距离 d_prev=3</a:t>
            </a:r>
          </a:p>
          <a:p>
            <a:pPr>
              <a:spcAft>
                <a:spcPts val="250"/>
              </a:spcAft>
            </a:pPr>
            <a:r>
              <a:rPr sz="1160" b="1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• 结论 1：</a:t>
            </a:r>
            <a:r>
              <a:rPr sz="1160" b="0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d_prev=3 正例只有 17 个，Baseline recall=5.9%，纯拓扑几乎抓不到远距离组合</a:t>
            </a:r>
          </a:p>
          <a:p>
            <a:pPr>
              <a:spcAft>
                <a:spcPts val="250"/>
              </a:spcAft>
            </a:pPr>
            <a:r>
              <a:rPr sz="1160" b="1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• 结论 2：</a:t>
            </a:r>
            <a:r>
              <a:rPr sz="1160" b="0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Concept embeddings recall=35.3% 但 FPR=2.32%，语义能补召回，也会带来更多误报</a:t>
            </a:r>
          </a:p>
          <a:p>
            <a:pPr>
              <a:spcAft>
                <a:spcPts val="250"/>
              </a:spcAft>
            </a:pPr>
            <a:r>
              <a:rPr sz="1160" b="1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• 结论 3：</a:t>
            </a:r>
            <a:r>
              <a:rPr sz="1160" b="0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GNN+Embedding recall=29.4%、FPR=1.04%，更像“较稳的候选排序器”而非直接命中器</a:t>
            </a:r>
          </a:p>
        </p:txBody>
      </p:sp>
      <p:pic>
        <p:nvPicPr>
          <p:cNvPr id="33" name="Picture 32" descr="extended_data_table1_confusion_redrawn_lar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3401" y="3182112"/>
            <a:ext cx="8764891" cy="268833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1C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65376" cy="475488"/>
          </a:xfrm>
          <a:prstGeom prst="rect">
            <a:avLst/>
          </a:prstGeom>
          <a:solidFill>
            <a:srgbClr val="1C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nu_wordmark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1627632" cy="36605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65376" y="0"/>
            <a:ext cx="2065263" cy="475488"/>
          </a:xfrm>
          <a:prstGeom prst="rect">
            <a:avLst/>
          </a:prstGeom>
          <a:solidFill>
            <a:srgbClr val="1C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65376" y="100584"/>
            <a:ext cx="2065263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绪论背景</a:t>
            </a:r>
          </a:p>
        </p:txBody>
      </p:sp>
      <p:sp>
        <p:nvSpPr>
          <p:cNvPr id="7" name="Rectangle 6"/>
          <p:cNvSpPr/>
          <p:nvPr/>
        </p:nvSpPr>
        <p:spPr>
          <a:xfrm>
            <a:off x="3930639" y="0"/>
            <a:ext cx="2065263" cy="475488"/>
          </a:xfrm>
          <a:prstGeom prst="rect">
            <a:avLst/>
          </a:prstGeom>
          <a:solidFill>
            <a:srgbClr val="1C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30639" y="100584"/>
            <a:ext cx="2065263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方法框架</a:t>
            </a:r>
          </a:p>
        </p:txBody>
      </p:sp>
      <p:sp>
        <p:nvSpPr>
          <p:cNvPr id="9" name="Rectangle 8"/>
          <p:cNvSpPr/>
          <p:nvPr/>
        </p:nvSpPr>
        <p:spPr>
          <a:xfrm>
            <a:off x="3930639" y="146304"/>
            <a:ext cx="5486" cy="182880"/>
          </a:xfrm>
          <a:prstGeom prst="rect">
            <a:avLst/>
          </a:prstGeom>
          <a:solidFill>
            <a:srgbClr val="D2D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95903" y="0"/>
            <a:ext cx="2065263" cy="475488"/>
          </a:xfrm>
          <a:prstGeom prst="rect">
            <a:avLst/>
          </a:prstGeom>
          <a:solidFill>
            <a:srgbClr val="F0C9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95903" y="100584"/>
            <a:ext cx="2065263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50" b="1">
                <a:solidFill>
                  <a:srgbClr val="1C345B"/>
                </a:solidFill>
                <a:latin typeface="Microsoft YaHei"/>
                <a:ea typeface="Microsoft YaHei"/>
                <a:cs typeface="Microsoft YaHei"/>
              </a:rPr>
              <a:t>主要结果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61167" y="0"/>
            <a:ext cx="2065263" cy="475488"/>
          </a:xfrm>
          <a:prstGeom prst="rect">
            <a:avLst/>
          </a:prstGeom>
          <a:solidFill>
            <a:srgbClr val="1C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61167" y="100584"/>
            <a:ext cx="2065263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总结展望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61167" y="146304"/>
            <a:ext cx="5486" cy="182880"/>
          </a:xfrm>
          <a:prstGeom prst="rect">
            <a:avLst/>
          </a:prstGeom>
          <a:solidFill>
            <a:srgbClr val="D2D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126431" y="0"/>
            <a:ext cx="2065263" cy="475488"/>
          </a:xfrm>
          <a:prstGeom prst="rect">
            <a:avLst/>
          </a:prstGeom>
          <a:solidFill>
            <a:srgbClr val="1C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126431" y="100584"/>
            <a:ext cx="2065263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细节补充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126431" y="146304"/>
            <a:ext cx="5486" cy="182880"/>
          </a:xfrm>
          <a:prstGeom prst="rect">
            <a:avLst/>
          </a:prstGeom>
          <a:solidFill>
            <a:srgbClr val="D2D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475488"/>
            <a:ext cx="12191695" cy="292608"/>
          </a:xfrm>
          <a:prstGeom prst="rect">
            <a:avLst/>
          </a:prstGeom>
          <a:solidFill>
            <a:srgbClr val="355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65376" y="525780"/>
            <a:ext cx="2065263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8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1.材料科学地图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30639" y="539496"/>
            <a:ext cx="3657" cy="164592"/>
          </a:xfrm>
          <a:prstGeom prst="rect">
            <a:avLst/>
          </a:prstGeom>
          <a:solidFill>
            <a:srgbClr val="85A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30639" y="525780"/>
            <a:ext cx="2065263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8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2.预测性能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95903" y="539496"/>
            <a:ext cx="3657" cy="164592"/>
          </a:xfrm>
          <a:prstGeom prst="rect">
            <a:avLst/>
          </a:prstGeom>
          <a:solidFill>
            <a:srgbClr val="85A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95903" y="525780"/>
            <a:ext cx="2065263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8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3.远距离组合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61167" y="475488"/>
            <a:ext cx="2065263" cy="292608"/>
          </a:xfrm>
          <a:prstGeom prst="rect">
            <a:avLst/>
          </a:prstGeom>
          <a:solidFill>
            <a:srgbClr val="5785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61167" y="539496"/>
            <a:ext cx="3657" cy="164592"/>
          </a:xfrm>
          <a:prstGeom prst="rect">
            <a:avLst/>
          </a:prstGeom>
          <a:solidFill>
            <a:srgbClr val="85A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61167" y="525780"/>
            <a:ext cx="2065263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8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4.专家评估流程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126431" y="539496"/>
            <a:ext cx="3657" cy="164592"/>
          </a:xfrm>
          <a:prstGeom prst="rect">
            <a:avLst/>
          </a:prstGeom>
          <a:solidFill>
            <a:srgbClr val="85A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26431" y="525780"/>
            <a:ext cx="2065263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8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5.专家评估结果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355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384280" y="6473952"/>
            <a:ext cx="384048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800" b="0">
                <a:solidFill>
                  <a:srgbClr val="636B74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" y="1060704"/>
            <a:ext cx="10287000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350" b="1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模型预测先转成个性化建议报告，再交给专家访谈评价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" y="1444752"/>
            <a:ext cx="10140696" cy="14447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250"/>
              </a:spcAft>
            </a:pPr>
            <a:r>
              <a:rPr sz="1160" b="1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• C_own：</a:t>
            </a:r>
            <a:r>
              <a:rPr sz="1160" b="0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从专家 Google Scholar 近期论文抽取的研究者自身概念集</a:t>
            </a:r>
          </a:p>
          <a:p>
            <a:pPr>
              <a:spcAft>
                <a:spcPts val="250"/>
              </a:spcAft>
            </a:pPr>
            <a:r>
              <a:rPr sz="1160" b="1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• C_known：</a:t>
            </a:r>
            <a:r>
              <a:rPr sz="1160" b="0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概念图中的全部已知概念，约 137,000 个；C_other=C_known \ C_own</a:t>
            </a:r>
          </a:p>
          <a:p>
            <a:pPr>
              <a:spcAft>
                <a:spcPts val="250"/>
              </a:spcAft>
            </a:pPr>
            <a:r>
              <a:rPr sz="1160" b="1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• 候选分区：</a:t>
            </a:r>
            <a:r>
              <a:rPr sz="1160" b="0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own×own 来自 C_own×C_own；own×other 来自 C_own×C_other</a:t>
            </a:r>
          </a:p>
          <a:p>
            <a:pPr>
              <a:spcAft>
                <a:spcPts val="250"/>
              </a:spcAft>
            </a:pPr>
            <a:r>
              <a:rPr sz="1160" b="1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• filtered：</a:t>
            </a:r>
            <a:r>
              <a:rPr sz="1160" b="0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从 own×other 中过滤高 degree 泛概念、语义太近或太远的组合</a:t>
            </a:r>
          </a:p>
          <a:p>
            <a:pPr>
              <a:spcAft>
                <a:spcPts val="250"/>
              </a:spcAft>
            </a:pPr>
            <a:r>
              <a:rPr sz="1160" b="1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• (many own)×other：</a:t>
            </a:r>
            <a:r>
              <a:rPr sz="1160" b="0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找一个外部概念，同时与多个 own concepts 得到高分连接</a:t>
            </a:r>
          </a:p>
          <a:p>
            <a:pPr>
              <a:spcAft>
                <a:spcPts val="250"/>
              </a:spcAft>
            </a:pPr>
            <a:r>
              <a:rPr sz="1160" b="1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• 访谈评价：</a:t>
            </a:r>
            <a:r>
              <a:rPr sz="1160" b="0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10 位专家阅读报告，在约 30 分钟访谈中将建议分入 A/B/C/D 类</a:t>
            </a:r>
          </a:p>
        </p:txBody>
      </p:sp>
      <p:pic>
        <p:nvPicPr>
          <p:cNvPr id="33" name="Picture 32" descr="extended_data_fig1_official_ful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3827" y="3367643"/>
            <a:ext cx="9464040" cy="2317273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363827" y="5726064"/>
            <a:ext cx="946404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700" b="0">
                <a:solidFill>
                  <a:srgbClr val="636B74"/>
                </a:solidFill>
                <a:latin typeface="Microsoft YaHei"/>
                <a:ea typeface="Microsoft YaHei"/>
                <a:cs typeface="Microsoft YaHei"/>
              </a:rPr>
              <a:t>Extended Data Fig. 1，个性化建议报告的生成流程：研究者概念集、候选组合、模型评分、报告分区与 LLM curation。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1C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65376" cy="475488"/>
          </a:xfrm>
          <a:prstGeom prst="rect">
            <a:avLst/>
          </a:prstGeom>
          <a:solidFill>
            <a:srgbClr val="1C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nu_wordmark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1627632" cy="36605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65376" y="0"/>
            <a:ext cx="2065263" cy="475488"/>
          </a:xfrm>
          <a:prstGeom prst="rect">
            <a:avLst/>
          </a:prstGeom>
          <a:solidFill>
            <a:srgbClr val="1C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65376" y="100584"/>
            <a:ext cx="2065263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绪论背景</a:t>
            </a:r>
          </a:p>
        </p:txBody>
      </p:sp>
      <p:sp>
        <p:nvSpPr>
          <p:cNvPr id="7" name="Rectangle 6"/>
          <p:cNvSpPr/>
          <p:nvPr/>
        </p:nvSpPr>
        <p:spPr>
          <a:xfrm>
            <a:off x="3930639" y="0"/>
            <a:ext cx="2065263" cy="475488"/>
          </a:xfrm>
          <a:prstGeom prst="rect">
            <a:avLst/>
          </a:prstGeom>
          <a:solidFill>
            <a:srgbClr val="1C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30639" y="100584"/>
            <a:ext cx="2065263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方法框架</a:t>
            </a:r>
          </a:p>
        </p:txBody>
      </p:sp>
      <p:sp>
        <p:nvSpPr>
          <p:cNvPr id="9" name="Rectangle 8"/>
          <p:cNvSpPr/>
          <p:nvPr/>
        </p:nvSpPr>
        <p:spPr>
          <a:xfrm>
            <a:off x="3930639" y="146304"/>
            <a:ext cx="5486" cy="182880"/>
          </a:xfrm>
          <a:prstGeom prst="rect">
            <a:avLst/>
          </a:prstGeom>
          <a:solidFill>
            <a:srgbClr val="D2D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95903" y="0"/>
            <a:ext cx="2065263" cy="475488"/>
          </a:xfrm>
          <a:prstGeom prst="rect">
            <a:avLst/>
          </a:prstGeom>
          <a:solidFill>
            <a:srgbClr val="F0C9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95903" y="100584"/>
            <a:ext cx="2065263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50" b="1">
                <a:solidFill>
                  <a:srgbClr val="1C345B"/>
                </a:solidFill>
                <a:latin typeface="Microsoft YaHei"/>
                <a:ea typeface="Microsoft YaHei"/>
                <a:cs typeface="Microsoft YaHei"/>
              </a:rPr>
              <a:t>主要结果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61167" y="0"/>
            <a:ext cx="2065263" cy="475488"/>
          </a:xfrm>
          <a:prstGeom prst="rect">
            <a:avLst/>
          </a:prstGeom>
          <a:solidFill>
            <a:srgbClr val="1C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61167" y="100584"/>
            <a:ext cx="2065263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总结展望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61167" y="146304"/>
            <a:ext cx="5486" cy="182880"/>
          </a:xfrm>
          <a:prstGeom prst="rect">
            <a:avLst/>
          </a:prstGeom>
          <a:solidFill>
            <a:srgbClr val="D2D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126431" y="0"/>
            <a:ext cx="2065263" cy="475488"/>
          </a:xfrm>
          <a:prstGeom prst="rect">
            <a:avLst/>
          </a:prstGeom>
          <a:solidFill>
            <a:srgbClr val="1C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126431" y="100584"/>
            <a:ext cx="2065263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细节补充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126431" y="146304"/>
            <a:ext cx="5486" cy="182880"/>
          </a:xfrm>
          <a:prstGeom prst="rect">
            <a:avLst/>
          </a:prstGeom>
          <a:solidFill>
            <a:srgbClr val="D2D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475488"/>
            <a:ext cx="12191695" cy="292608"/>
          </a:xfrm>
          <a:prstGeom prst="rect">
            <a:avLst/>
          </a:prstGeom>
          <a:solidFill>
            <a:srgbClr val="355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65376" y="525780"/>
            <a:ext cx="2065263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8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1.材料科学地图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30639" y="539496"/>
            <a:ext cx="3657" cy="164592"/>
          </a:xfrm>
          <a:prstGeom prst="rect">
            <a:avLst/>
          </a:prstGeom>
          <a:solidFill>
            <a:srgbClr val="85A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30639" y="525780"/>
            <a:ext cx="2065263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8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2.预测性能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95903" y="539496"/>
            <a:ext cx="3657" cy="164592"/>
          </a:xfrm>
          <a:prstGeom prst="rect">
            <a:avLst/>
          </a:prstGeom>
          <a:solidFill>
            <a:srgbClr val="85A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95903" y="525780"/>
            <a:ext cx="2065263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8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3.远距离组合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61167" y="539496"/>
            <a:ext cx="3657" cy="164592"/>
          </a:xfrm>
          <a:prstGeom prst="rect">
            <a:avLst/>
          </a:prstGeom>
          <a:solidFill>
            <a:srgbClr val="85A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61167" y="525780"/>
            <a:ext cx="2065263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8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4.专家评估流程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126431" y="475488"/>
            <a:ext cx="2065263" cy="292608"/>
          </a:xfrm>
          <a:prstGeom prst="rect">
            <a:avLst/>
          </a:prstGeom>
          <a:solidFill>
            <a:srgbClr val="5785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126431" y="539496"/>
            <a:ext cx="3657" cy="164592"/>
          </a:xfrm>
          <a:prstGeom prst="rect">
            <a:avLst/>
          </a:prstGeom>
          <a:solidFill>
            <a:srgbClr val="85A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26431" y="525780"/>
            <a:ext cx="2065263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8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5.专家评估结果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355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384280" y="6473952"/>
            <a:ext cx="384048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800" b="0">
                <a:solidFill>
                  <a:srgbClr val="636B74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" y="1060704"/>
            <a:ext cx="10287000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450" b="1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专家评估显示“可启发专家”，但不能自动判定发现成立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" y="1444752"/>
            <a:ext cx="10140696" cy="14447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250"/>
              </a:spcAft>
            </a:pPr>
            <a:r>
              <a:rPr sz="1260" b="1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• section：</a:t>
            </a:r>
            <a:r>
              <a:rPr sz="1260" b="0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建议来源分区；C_known 是全体图谱概念，C_other=C_known\C_own</a:t>
            </a:r>
          </a:p>
          <a:p>
            <a:pPr>
              <a:spcAft>
                <a:spcPts val="250"/>
              </a:spcAft>
            </a:pPr>
            <a:r>
              <a:rPr sz="1260" b="1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• filtered/many own：</a:t>
            </a:r>
            <a:r>
              <a:rPr sz="1260" b="0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前者过滤 own×other 候选，后者强调一个外部概念连接多个 own concepts</a:t>
            </a:r>
          </a:p>
          <a:p>
            <a:pPr>
              <a:spcAft>
                <a:spcPts val="250"/>
              </a:spcAft>
            </a:pPr>
            <a:r>
              <a:rPr sz="1260" b="1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• category：</a:t>
            </a:r>
            <a:r>
              <a:rPr sz="1260" b="0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专家质量标签；C=novel/interesting/inspiring，其余包括已知、平凡、无意义或不确定</a:t>
            </a:r>
          </a:p>
          <a:p>
            <a:pPr>
              <a:spcAft>
                <a:spcPts val="250"/>
              </a:spcAft>
            </a:pPr>
            <a:r>
              <a:rPr sz="1260" b="1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• 有启发性：</a:t>
            </a:r>
            <a:r>
              <a:rPr sz="1260" b="0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C 类 77/292=26.4%；(many own)×other 分区的 C 比例最高 16/26=61.5%</a:t>
            </a:r>
          </a:p>
          <a:p>
            <a:pPr>
              <a:spcAft>
                <a:spcPts val="250"/>
              </a:spcAft>
            </a:pPr>
            <a:r>
              <a:rPr sz="1260" b="1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• 不是自动发现：</a:t>
            </a:r>
            <a:r>
              <a:rPr sz="1260" b="0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A1+A2+B+D 共 215/292，候选仍需专家筛选、文献检索和实验验证</a:t>
            </a:r>
          </a:p>
        </p:txBody>
      </p:sp>
      <p:pic>
        <p:nvPicPr>
          <p:cNvPr id="33" name="Picture 32" descr="table2_expert_categories_redrawn_lar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647" y="3182112"/>
            <a:ext cx="8534400" cy="268833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1C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65376" cy="475488"/>
          </a:xfrm>
          <a:prstGeom prst="rect">
            <a:avLst/>
          </a:prstGeom>
          <a:solidFill>
            <a:srgbClr val="1C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nu_wordmark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1627632" cy="36605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65376" y="0"/>
            <a:ext cx="2065263" cy="475488"/>
          </a:xfrm>
          <a:prstGeom prst="rect">
            <a:avLst/>
          </a:prstGeom>
          <a:solidFill>
            <a:srgbClr val="1C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65376" y="100584"/>
            <a:ext cx="2065263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绪论背景</a:t>
            </a:r>
          </a:p>
        </p:txBody>
      </p:sp>
      <p:sp>
        <p:nvSpPr>
          <p:cNvPr id="7" name="Rectangle 6"/>
          <p:cNvSpPr/>
          <p:nvPr/>
        </p:nvSpPr>
        <p:spPr>
          <a:xfrm>
            <a:off x="3930639" y="0"/>
            <a:ext cx="2065263" cy="475488"/>
          </a:xfrm>
          <a:prstGeom prst="rect">
            <a:avLst/>
          </a:prstGeom>
          <a:solidFill>
            <a:srgbClr val="1C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30639" y="100584"/>
            <a:ext cx="2065263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方法框架</a:t>
            </a:r>
          </a:p>
        </p:txBody>
      </p:sp>
      <p:sp>
        <p:nvSpPr>
          <p:cNvPr id="9" name="Rectangle 8"/>
          <p:cNvSpPr/>
          <p:nvPr/>
        </p:nvSpPr>
        <p:spPr>
          <a:xfrm>
            <a:off x="3930639" y="146304"/>
            <a:ext cx="5486" cy="182880"/>
          </a:xfrm>
          <a:prstGeom prst="rect">
            <a:avLst/>
          </a:prstGeom>
          <a:solidFill>
            <a:srgbClr val="D2D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95903" y="0"/>
            <a:ext cx="2065263" cy="475488"/>
          </a:xfrm>
          <a:prstGeom prst="rect">
            <a:avLst/>
          </a:prstGeom>
          <a:solidFill>
            <a:srgbClr val="1C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95903" y="100584"/>
            <a:ext cx="2065263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主要结果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95903" y="146304"/>
            <a:ext cx="5486" cy="182880"/>
          </a:xfrm>
          <a:prstGeom prst="rect">
            <a:avLst/>
          </a:prstGeom>
          <a:solidFill>
            <a:srgbClr val="D2D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61167" y="0"/>
            <a:ext cx="2065263" cy="475488"/>
          </a:xfrm>
          <a:prstGeom prst="rect">
            <a:avLst/>
          </a:prstGeom>
          <a:solidFill>
            <a:srgbClr val="F0C9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61167" y="100584"/>
            <a:ext cx="2065263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50" b="1">
                <a:solidFill>
                  <a:srgbClr val="1C345B"/>
                </a:solidFill>
                <a:latin typeface="Microsoft YaHei"/>
                <a:ea typeface="Microsoft YaHei"/>
                <a:cs typeface="Microsoft YaHei"/>
              </a:rPr>
              <a:t>总结展望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126431" y="0"/>
            <a:ext cx="2065263" cy="475488"/>
          </a:xfrm>
          <a:prstGeom prst="rect">
            <a:avLst/>
          </a:prstGeom>
          <a:solidFill>
            <a:srgbClr val="1C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126431" y="100584"/>
            <a:ext cx="2065263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细节补充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126431" y="146304"/>
            <a:ext cx="5486" cy="182880"/>
          </a:xfrm>
          <a:prstGeom prst="rect">
            <a:avLst/>
          </a:prstGeom>
          <a:solidFill>
            <a:srgbClr val="D2D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475488"/>
            <a:ext cx="12191695" cy="292608"/>
          </a:xfrm>
          <a:prstGeom prst="rect">
            <a:avLst/>
          </a:prstGeom>
          <a:solidFill>
            <a:srgbClr val="355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865376" y="475488"/>
            <a:ext cx="3442106" cy="292608"/>
          </a:xfrm>
          <a:prstGeom prst="rect">
            <a:avLst/>
          </a:prstGeom>
          <a:solidFill>
            <a:srgbClr val="5785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865376" y="525780"/>
            <a:ext cx="3442106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8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1.方法贡献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07482" y="539496"/>
            <a:ext cx="3657" cy="164592"/>
          </a:xfrm>
          <a:prstGeom prst="rect">
            <a:avLst/>
          </a:prstGeom>
          <a:solidFill>
            <a:srgbClr val="85A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7482" y="525780"/>
            <a:ext cx="3442106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8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2.局限边界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49588" y="539496"/>
            <a:ext cx="3657" cy="164592"/>
          </a:xfrm>
          <a:prstGeom prst="rect">
            <a:avLst/>
          </a:prstGeom>
          <a:solidFill>
            <a:srgbClr val="85A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49588" y="525780"/>
            <a:ext cx="3442106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8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3.知识发现启发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355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384280" y="6473952"/>
            <a:ext cx="384048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800" b="0">
                <a:solidFill>
                  <a:srgbClr val="636B74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" y="1060704"/>
            <a:ext cx="10287000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450" b="1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从科学文本到未来概念边预测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" y="1444752"/>
            <a:ext cx="10140696" cy="1323593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250"/>
              </a:spcAft>
            </a:pPr>
            <a:r>
              <a:rPr sz="1260" b="1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• 方法闭环：</a:t>
            </a:r>
            <a:r>
              <a:rPr sz="1260" b="0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OpenAlex 摘要 → LLM 概念抽取 → time-stamped concept graph → future link prediction → 专家评估</a:t>
            </a:r>
          </a:p>
          <a:p>
            <a:pPr>
              <a:spcAft>
                <a:spcPts val="250"/>
              </a:spcAft>
            </a:pPr>
            <a:r>
              <a:rPr sz="1260" b="1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• 核心贡献：</a:t>
            </a:r>
            <a:r>
              <a:rPr sz="1260" b="0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把“新研究方向”操作化为未来首次出现的概念共现边</a:t>
            </a:r>
          </a:p>
          <a:p>
            <a:pPr>
              <a:spcAft>
                <a:spcPts val="250"/>
              </a:spcAft>
            </a:pPr>
            <a:r>
              <a:rPr sz="1260" b="1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• 图谱规模：</a:t>
            </a:r>
            <a:r>
              <a:rPr sz="1260" b="0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约 221,000 篇材料科学摘要、137,000 个概念节点、13 million 条共现边</a:t>
            </a:r>
          </a:p>
          <a:p>
            <a:pPr>
              <a:spcAft>
                <a:spcPts val="250"/>
              </a:spcAft>
            </a:pPr>
            <a:r>
              <a:rPr sz="1260" b="1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• 模型贡献：</a:t>
            </a:r>
            <a:r>
              <a:rPr sz="1260" b="0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语义 embedding 与拓扑特征互补，GNN + Embeddings 全体测试 AUC=0.9433</a:t>
            </a:r>
          </a:p>
          <a:p>
            <a:pPr>
              <a:spcAft>
                <a:spcPts val="250"/>
              </a:spcAft>
            </a:pPr>
            <a:r>
              <a:rPr sz="1260" b="1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• 使用定位：</a:t>
            </a:r>
            <a:r>
              <a:rPr sz="1260" b="0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输出高分候选与个性化建议报告，服务 research direction scouting</a:t>
            </a:r>
          </a:p>
        </p:txBody>
      </p:sp>
      <p:pic>
        <p:nvPicPr>
          <p:cNvPr id="29" name="Picture 28" descr="extended_data_fig3_official_ful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3827" y="3340662"/>
            <a:ext cx="9464040" cy="2250077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363827" y="5631887"/>
            <a:ext cx="946404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700" b="0">
                <a:solidFill>
                  <a:srgbClr val="636B74"/>
                </a:solidFill>
                <a:latin typeface="Microsoft YaHei"/>
                <a:ea typeface="Microsoft YaHei"/>
                <a:cs typeface="Microsoft YaHei"/>
              </a:rPr>
              <a:t>Extended Data Fig. 3，本文可抽象为“科学文本 → 概念网络 → 候选发现 → 专家验证”的管线。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1C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65376" cy="475488"/>
          </a:xfrm>
          <a:prstGeom prst="rect">
            <a:avLst/>
          </a:prstGeom>
          <a:solidFill>
            <a:srgbClr val="1C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nu_wordmark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1627632" cy="36605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65376" y="0"/>
            <a:ext cx="2065263" cy="475488"/>
          </a:xfrm>
          <a:prstGeom prst="rect">
            <a:avLst/>
          </a:prstGeom>
          <a:solidFill>
            <a:srgbClr val="1C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65376" y="100584"/>
            <a:ext cx="2065263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绪论背景</a:t>
            </a:r>
          </a:p>
        </p:txBody>
      </p:sp>
      <p:sp>
        <p:nvSpPr>
          <p:cNvPr id="7" name="Rectangle 6"/>
          <p:cNvSpPr/>
          <p:nvPr/>
        </p:nvSpPr>
        <p:spPr>
          <a:xfrm>
            <a:off x="3930639" y="0"/>
            <a:ext cx="2065263" cy="475488"/>
          </a:xfrm>
          <a:prstGeom prst="rect">
            <a:avLst/>
          </a:prstGeom>
          <a:solidFill>
            <a:srgbClr val="1C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30639" y="100584"/>
            <a:ext cx="2065263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方法框架</a:t>
            </a:r>
          </a:p>
        </p:txBody>
      </p:sp>
      <p:sp>
        <p:nvSpPr>
          <p:cNvPr id="9" name="Rectangle 8"/>
          <p:cNvSpPr/>
          <p:nvPr/>
        </p:nvSpPr>
        <p:spPr>
          <a:xfrm>
            <a:off x="3930639" y="146304"/>
            <a:ext cx="5486" cy="182880"/>
          </a:xfrm>
          <a:prstGeom prst="rect">
            <a:avLst/>
          </a:prstGeom>
          <a:solidFill>
            <a:srgbClr val="D2D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95903" y="0"/>
            <a:ext cx="2065263" cy="475488"/>
          </a:xfrm>
          <a:prstGeom prst="rect">
            <a:avLst/>
          </a:prstGeom>
          <a:solidFill>
            <a:srgbClr val="1C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95903" y="100584"/>
            <a:ext cx="2065263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主要结果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95903" y="146304"/>
            <a:ext cx="5486" cy="182880"/>
          </a:xfrm>
          <a:prstGeom prst="rect">
            <a:avLst/>
          </a:prstGeom>
          <a:solidFill>
            <a:srgbClr val="D2D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61167" y="0"/>
            <a:ext cx="2065263" cy="475488"/>
          </a:xfrm>
          <a:prstGeom prst="rect">
            <a:avLst/>
          </a:prstGeom>
          <a:solidFill>
            <a:srgbClr val="F0C9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61167" y="100584"/>
            <a:ext cx="2065263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50" b="1">
                <a:solidFill>
                  <a:srgbClr val="1C345B"/>
                </a:solidFill>
                <a:latin typeface="Microsoft YaHei"/>
                <a:ea typeface="Microsoft YaHei"/>
                <a:cs typeface="Microsoft YaHei"/>
              </a:rPr>
              <a:t>总结展望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126431" y="0"/>
            <a:ext cx="2065263" cy="475488"/>
          </a:xfrm>
          <a:prstGeom prst="rect">
            <a:avLst/>
          </a:prstGeom>
          <a:solidFill>
            <a:srgbClr val="1C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126431" y="100584"/>
            <a:ext cx="2065263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细节补充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126431" y="146304"/>
            <a:ext cx="5486" cy="182880"/>
          </a:xfrm>
          <a:prstGeom prst="rect">
            <a:avLst/>
          </a:prstGeom>
          <a:solidFill>
            <a:srgbClr val="D2D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475488"/>
            <a:ext cx="12191695" cy="292608"/>
          </a:xfrm>
          <a:prstGeom prst="rect">
            <a:avLst/>
          </a:prstGeom>
          <a:solidFill>
            <a:srgbClr val="355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65376" y="525780"/>
            <a:ext cx="3442106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8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1.方法贡献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07482" y="475488"/>
            <a:ext cx="3442106" cy="292608"/>
          </a:xfrm>
          <a:prstGeom prst="rect">
            <a:avLst/>
          </a:prstGeom>
          <a:solidFill>
            <a:srgbClr val="5785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07482" y="539496"/>
            <a:ext cx="3657" cy="164592"/>
          </a:xfrm>
          <a:prstGeom prst="rect">
            <a:avLst/>
          </a:prstGeom>
          <a:solidFill>
            <a:srgbClr val="85A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7482" y="525780"/>
            <a:ext cx="3442106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8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2.局限边界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49588" y="539496"/>
            <a:ext cx="3657" cy="164592"/>
          </a:xfrm>
          <a:prstGeom prst="rect">
            <a:avLst/>
          </a:prstGeom>
          <a:solidFill>
            <a:srgbClr val="85A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49588" y="525780"/>
            <a:ext cx="3442106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8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3.知识发现启发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355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384280" y="6473952"/>
            <a:ext cx="384048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800" b="0">
                <a:solidFill>
                  <a:srgbClr val="636B74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1097280"/>
            <a:ext cx="10195560" cy="334873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610" b="1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边界主要来自概念图定义、任务定义和验证方式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1505305"/>
            <a:ext cx="10012680" cy="166055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1380" b="1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• 共现边局限：</a:t>
            </a:r>
            <a:r>
              <a:rPr sz="1380" b="0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摘要内共现不等于机制、因果、实验可行性或真实研究价值</a:t>
            </a:r>
          </a:p>
          <a:p>
            <a:pPr>
              <a:spcAft>
                <a:spcPts val="400"/>
              </a:spcAft>
            </a:pPr>
            <a:r>
              <a:rPr sz="1380" b="1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• 图谱表达局限：</a:t>
            </a:r>
            <a:r>
              <a:rPr sz="1380" b="0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节点和边尚未区分材料、工艺、结构、性能、表征、理论等角色</a:t>
            </a:r>
          </a:p>
          <a:p>
            <a:pPr>
              <a:spcAft>
                <a:spcPts val="400"/>
              </a:spcAft>
            </a:pPr>
            <a:r>
              <a:rPr sz="1380" b="1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• 任务局限：</a:t>
            </a:r>
            <a:r>
              <a:rPr sz="1380" b="0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预测已有概念节点之间的新边，不预测从未出现的新概念节点</a:t>
            </a:r>
          </a:p>
          <a:p>
            <a:pPr>
              <a:spcAft>
                <a:spcPts val="400"/>
              </a:spcAft>
            </a:pPr>
            <a:r>
              <a:rPr sz="1380" b="1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• 评估局限：</a:t>
            </a:r>
            <a:r>
              <a:rPr sz="1380" b="0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测试集极度不平衡；专家访谈能说明启发性，但不能替代后续验证</a:t>
            </a:r>
          </a:p>
          <a:p>
            <a:pPr>
              <a:spcAft>
                <a:spcPts val="400"/>
              </a:spcAft>
            </a:pPr>
            <a:r>
              <a:rPr sz="1380" b="1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• LLM 局限：</a:t>
            </a:r>
            <a:r>
              <a:rPr sz="1380" b="0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概念抽取、纠错和 curation 仍可能受标注规范、语料和 prompt 影响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68680" y="3275583"/>
            <a:ext cx="10195560" cy="457200"/>
          </a:xfrm>
          <a:prstGeom prst="roundRect">
            <a:avLst/>
          </a:prstGeom>
          <a:solidFill>
            <a:srgbClr val="F3F6FA"/>
          </a:solidFill>
          <a:ln w="762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7552" y="3339591"/>
            <a:ext cx="9957816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940" b="1">
                <a:solidFill>
                  <a:srgbClr val="1C345B"/>
                </a:solidFill>
                <a:latin typeface="Microsoft YaHei"/>
                <a:ea typeface="Microsoft YaHei"/>
                <a:cs typeface="Microsoft YaHei"/>
              </a:rPr>
              <a:t>NOTE：本文更适合作为候选生成器，不应被理解为自动科学发现系统。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1C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65376" cy="475488"/>
          </a:xfrm>
          <a:prstGeom prst="rect">
            <a:avLst/>
          </a:prstGeom>
          <a:solidFill>
            <a:srgbClr val="1C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nu_wordmark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1627632" cy="36605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65376" y="0"/>
            <a:ext cx="2065263" cy="475488"/>
          </a:xfrm>
          <a:prstGeom prst="rect">
            <a:avLst/>
          </a:prstGeom>
          <a:solidFill>
            <a:srgbClr val="1C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65376" y="100584"/>
            <a:ext cx="2065263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绪论背景</a:t>
            </a:r>
          </a:p>
        </p:txBody>
      </p:sp>
      <p:sp>
        <p:nvSpPr>
          <p:cNvPr id="7" name="Rectangle 6"/>
          <p:cNvSpPr/>
          <p:nvPr/>
        </p:nvSpPr>
        <p:spPr>
          <a:xfrm>
            <a:off x="3930639" y="0"/>
            <a:ext cx="2065263" cy="475488"/>
          </a:xfrm>
          <a:prstGeom prst="rect">
            <a:avLst/>
          </a:prstGeom>
          <a:solidFill>
            <a:srgbClr val="1C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30639" y="100584"/>
            <a:ext cx="2065263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方法框架</a:t>
            </a:r>
          </a:p>
        </p:txBody>
      </p:sp>
      <p:sp>
        <p:nvSpPr>
          <p:cNvPr id="9" name="Rectangle 8"/>
          <p:cNvSpPr/>
          <p:nvPr/>
        </p:nvSpPr>
        <p:spPr>
          <a:xfrm>
            <a:off x="3930639" y="146304"/>
            <a:ext cx="5486" cy="182880"/>
          </a:xfrm>
          <a:prstGeom prst="rect">
            <a:avLst/>
          </a:prstGeom>
          <a:solidFill>
            <a:srgbClr val="D2D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95903" y="0"/>
            <a:ext cx="2065263" cy="475488"/>
          </a:xfrm>
          <a:prstGeom prst="rect">
            <a:avLst/>
          </a:prstGeom>
          <a:solidFill>
            <a:srgbClr val="1C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95903" y="100584"/>
            <a:ext cx="2065263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主要结果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95903" y="146304"/>
            <a:ext cx="5486" cy="182880"/>
          </a:xfrm>
          <a:prstGeom prst="rect">
            <a:avLst/>
          </a:prstGeom>
          <a:solidFill>
            <a:srgbClr val="D2D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61167" y="0"/>
            <a:ext cx="2065263" cy="475488"/>
          </a:xfrm>
          <a:prstGeom prst="rect">
            <a:avLst/>
          </a:prstGeom>
          <a:solidFill>
            <a:srgbClr val="F0C9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61167" y="100584"/>
            <a:ext cx="2065263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50" b="1">
                <a:solidFill>
                  <a:srgbClr val="1C345B"/>
                </a:solidFill>
                <a:latin typeface="Microsoft YaHei"/>
                <a:ea typeface="Microsoft YaHei"/>
                <a:cs typeface="Microsoft YaHei"/>
              </a:rPr>
              <a:t>总结展望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126431" y="0"/>
            <a:ext cx="2065263" cy="475488"/>
          </a:xfrm>
          <a:prstGeom prst="rect">
            <a:avLst/>
          </a:prstGeom>
          <a:solidFill>
            <a:srgbClr val="1C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126431" y="100584"/>
            <a:ext cx="2065263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细节补充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126431" y="146304"/>
            <a:ext cx="5486" cy="182880"/>
          </a:xfrm>
          <a:prstGeom prst="rect">
            <a:avLst/>
          </a:prstGeom>
          <a:solidFill>
            <a:srgbClr val="D2D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475488"/>
            <a:ext cx="12191695" cy="292608"/>
          </a:xfrm>
          <a:prstGeom prst="rect">
            <a:avLst/>
          </a:prstGeom>
          <a:solidFill>
            <a:srgbClr val="355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65376" y="525780"/>
            <a:ext cx="3442106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8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1.方法贡献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07482" y="539496"/>
            <a:ext cx="3657" cy="164592"/>
          </a:xfrm>
          <a:prstGeom prst="rect">
            <a:avLst/>
          </a:prstGeom>
          <a:solidFill>
            <a:srgbClr val="85A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7482" y="525780"/>
            <a:ext cx="3442106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8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2.局限边界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749588" y="475488"/>
            <a:ext cx="3442106" cy="292608"/>
          </a:xfrm>
          <a:prstGeom prst="rect">
            <a:avLst/>
          </a:prstGeom>
          <a:solidFill>
            <a:srgbClr val="5785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749588" y="539496"/>
            <a:ext cx="3657" cy="164592"/>
          </a:xfrm>
          <a:prstGeom prst="rect">
            <a:avLst/>
          </a:prstGeom>
          <a:solidFill>
            <a:srgbClr val="85A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49588" y="525780"/>
            <a:ext cx="3442106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8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3.知识发现启发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355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384280" y="6473952"/>
            <a:ext cx="384048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800" b="0">
                <a:solidFill>
                  <a:srgbClr val="636B74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" y="1060704"/>
            <a:ext cx="10287000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450" b="1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从未来边预测扩展到科学知识发现工作流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" y="1444752"/>
            <a:ext cx="10140696" cy="1323593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250"/>
              </a:spcAft>
            </a:pPr>
            <a:r>
              <a:rPr sz="1260" b="1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• Typed KG：</a:t>
            </a:r>
            <a:r>
              <a:rPr sz="1260" b="0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区分 material、process、structure、property、application、characterization、theory 等节点和关系</a:t>
            </a:r>
          </a:p>
          <a:p>
            <a:pPr>
              <a:spcAft>
                <a:spcPts val="250"/>
              </a:spcAft>
            </a:pPr>
            <a:r>
              <a:rPr sz="1260" b="1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• Hyperedge / motif：</a:t>
            </a:r>
            <a:r>
              <a:rPr sz="1260" b="0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把二元概念边扩展为“材料体系 + 工艺 + 表征 + 性能 + 应用”的多元组合</a:t>
            </a:r>
          </a:p>
          <a:p>
            <a:pPr>
              <a:spcAft>
                <a:spcPts val="250"/>
              </a:spcAft>
            </a:pPr>
            <a:r>
              <a:rPr sz="1260" b="1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• 新概念节点预测：</a:t>
            </a:r>
            <a:r>
              <a:rPr sz="1260" b="0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研究 concept birth / node emergence，并配套命名、归一化和人工审核</a:t>
            </a:r>
          </a:p>
          <a:p>
            <a:pPr>
              <a:spcAft>
                <a:spcPts val="250"/>
              </a:spcAft>
            </a:pPr>
            <a:r>
              <a:rPr sz="1260" b="1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• 科学学应用：</a:t>
            </a:r>
            <a:r>
              <a:rPr sz="1260" b="0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追踪新组合、跨域桥接、知识扩散、主题生命周期和高影响方向早期信号</a:t>
            </a:r>
          </a:p>
          <a:p>
            <a:pPr>
              <a:spcAft>
                <a:spcPts val="250"/>
              </a:spcAft>
            </a:pPr>
            <a:r>
              <a:rPr sz="1260" b="1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• 工具形态：</a:t>
            </a:r>
            <a:r>
              <a:rPr sz="1260" b="0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候选建议应同时给出历史路径、关键论文、相邻概念、相似案例和专家反馈入口</a:t>
            </a:r>
          </a:p>
        </p:txBody>
      </p:sp>
      <p:pic>
        <p:nvPicPr>
          <p:cNvPr id="29" name="Picture 28" descr="knowledge_discovery_outlook_schemat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9854" y="3060953"/>
            <a:ext cx="7491986" cy="2809495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363827" y="5911596"/>
            <a:ext cx="946404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700" b="0">
                <a:solidFill>
                  <a:srgbClr val="636B74"/>
                </a:solidFill>
                <a:latin typeface="Microsoft YaHei"/>
                <a:ea typeface="Microsoft YaHei"/>
                <a:cs typeface="Microsoft YaHei"/>
              </a:rPr>
              <a:t>自绘示意图，区分论文已验证的未来边预测与本报告提出的知识发现扩展方向。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1C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65376" cy="475488"/>
          </a:xfrm>
          <a:prstGeom prst="rect">
            <a:avLst/>
          </a:prstGeom>
          <a:solidFill>
            <a:srgbClr val="1C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nu_wordmark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1627632" cy="36605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65376" y="0"/>
            <a:ext cx="2065263" cy="475488"/>
          </a:xfrm>
          <a:prstGeom prst="rect">
            <a:avLst/>
          </a:prstGeom>
          <a:solidFill>
            <a:srgbClr val="1C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65376" y="100584"/>
            <a:ext cx="2065263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绪论背景</a:t>
            </a:r>
          </a:p>
        </p:txBody>
      </p:sp>
      <p:sp>
        <p:nvSpPr>
          <p:cNvPr id="7" name="Rectangle 6"/>
          <p:cNvSpPr/>
          <p:nvPr/>
        </p:nvSpPr>
        <p:spPr>
          <a:xfrm>
            <a:off x="3930639" y="0"/>
            <a:ext cx="2065263" cy="475488"/>
          </a:xfrm>
          <a:prstGeom prst="rect">
            <a:avLst/>
          </a:prstGeom>
          <a:solidFill>
            <a:srgbClr val="1C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30639" y="100584"/>
            <a:ext cx="2065263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方法框架</a:t>
            </a:r>
          </a:p>
        </p:txBody>
      </p:sp>
      <p:sp>
        <p:nvSpPr>
          <p:cNvPr id="9" name="Rectangle 8"/>
          <p:cNvSpPr/>
          <p:nvPr/>
        </p:nvSpPr>
        <p:spPr>
          <a:xfrm>
            <a:off x="3930639" y="146304"/>
            <a:ext cx="5486" cy="182880"/>
          </a:xfrm>
          <a:prstGeom prst="rect">
            <a:avLst/>
          </a:prstGeom>
          <a:solidFill>
            <a:srgbClr val="D2D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95903" y="0"/>
            <a:ext cx="2065263" cy="475488"/>
          </a:xfrm>
          <a:prstGeom prst="rect">
            <a:avLst/>
          </a:prstGeom>
          <a:solidFill>
            <a:srgbClr val="1C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95903" y="100584"/>
            <a:ext cx="2065263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主要结果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95903" y="146304"/>
            <a:ext cx="5486" cy="182880"/>
          </a:xfrm>
          <a:prstGeom prst="rect">
            <a:avLst/>
          </a:prstGeom>
          <a:solidFill>
            <a:srgbClr val="D2D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61167" y="0"/>
            <a:ext cx="2065263" cy="475488"/>
          </a:xfrm>
          <a:prstGeom prst="rect">
            <a:avLst/>
          </a:prstGeom>
          <a:solidFill>
            <a:srgbClr val="1C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61167" y="100584"/>
            <a:ext cx="2065263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总结展望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61167" y="146304"/>
            <a:ext cx="5486" cy="182880"/>
          </a:xfrm>
          <a:prstGeom prst="rect">
            <a:avLst/>
          </a:prstGeom>
          <a:solidFill>
            <a:srgbClr val="D2D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126431" y="0"/>
            <a:ext cx="2065263" cy="475488"/>
          </a:xfrm>
          <a:prstGeom prst="rect">
            <a:avLst/>
          </a:prstGeom>
          <a:solidFill>
            <a:srgbClr val="F0C9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126431" y="100584"/>
            <a:ext cx="2065263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50" b="1">
                <a:solidFill>
                  <a:srgbClr val="1C345B"/>
                </a:solidFill>
                <a:latin typeface="Microsoft YaHei"/>
                <a:ea typeface="Microsoft YaHei"/>
                <a:cs typeface="Microsoft YaHei"/>
              </a:rPr>
              <a:t>细节补充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475488"/>
            <a:ext cx="12191695" cy="292608"/>
          </a:xfrm>
          <a:prstGeom prst="rect">
            <a:avLst/>
          </a:prstGeom>
          <a:solidFill>
            <a:srgbClr val="355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865376" y="475488"/>
            <a:ext cx="10326319" cy="292608"/>
          </a:xfrm>
          <a:prstGeom prst="rect">
            <a:avLst/>
          </a:prstGeom>
          <a:solidFill>
            <a:srgbClr val="5785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865376" y="525780"/>
            <a:ext cx="10326319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8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1.指标与边界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355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384280" y="6473952"/>
            <a:ext cx="384048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800" b="0">
                <a:solidFill>
                  <a:srgbClr val="636B74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1060704"/>
            <a:ext cx="10287000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450" b="1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指标和 benchmark 说明了使用边界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" y="1444752"/>
            <a:ext cx="10140696" cy="10972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250"/>
              </a:spcAft>
            </a:pPr>
            <a:r>
              <a:rPr sz="1260" b="1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• 指标：</a:t>
            </a:r>
            <a:r>
              <a:rPr sz="1260" b="0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Recall=TP/(TP+FN)，Precision=TP/(TP+FP)，FPR=FP/(FP+TN)</a:t>
            </a:r>
          </a:p>
          <a:p>
            <a:pPr>
              <a:spcAft>
                <a:spcPts val="250"/>
              </a:spcAft>
            </a:pPr>
            <a:r>
              <a:rPr sz="1260" b="1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• Science4Cast：</a:t>
            </a:r>
            <a:r>
              <a:rPr sz="1260" b="0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Baseline AUROC=0.9088，按 Krenn 等报道可排第二</a:t>
            </a:r>
          </a:p>
          <a:p>
            <a:pPr>
              <a:spcAft>
                <a:spcPts val="250"/>
              </a:spcAft>
            </a:pPr>
            <a:r>
              <a:rPr sz="1260" b="1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• Dense NN 超参：</a:t>
            </a:r>
            <a:r>
              <a:rPr sz="1260" b="0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Baseline 层宽 [20,300,180,108,64,10,1]；Concept embedding 层宽 [1536,1024,819,10,1]</a:t>
            </a:r>
          </a:p>
          <a:p>
            <a:pPr>
              <a:spcAft>
                <a:spcPts val="250"/>
              </a:spcAft>
            </a:pPr>
            <a:r>
              <a:rPr sz="1260" b="1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• GNN 超参：</a:t>
            </a:r>
            <a:r>
              <a:rPr sz="1260" b="0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GraphSAGE 2-layer encoder，hidden 256，node embedding 128，fanout (20,15)，MLP decoder hidden 256</a:t>
            </a:r>
          </a:p>
        </p:txBody>
      </p:sp>
      <p:pic>
        <p:nvPicPr>
          <p:cNvPr id="25" name="Picture 24" descr="fig3_official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732" y="2834640"/>
            <a:ext cx="9082230" cy="303580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363827" y="5911596"/>
            <a:ext cx="946404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700" b="0">
                <a:solidFill>
                  <a:srgbClr val="636B74"/>
                </a:solidFill>
                <a:latin typeface="Microsoft YaHei"/>
                <a:ea typeface="Microsoft YaHei"/>
                <a:cs typeface="Microsoft YaHei"/>
              </a:rPr>
              <a:t>Fig. 3 与 Supplementary Tables 共同说明 AUC、阈值和 recall/precision 的取舍。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C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nu_wordmark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00584"/>
            <a:ext cx="2414016" cy="542911"/>
          </a:xfrm>
          <a:prstGeom prst="rect">
            <a:avLst/>
          </a:prstGeom>
        </p:spPr>
      </p:pic>
      <p:pic>
        <p:nvPicPr>
          <p:cNvPr id="4" name="Picture 3" descr="sss_bn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6840" y="173736"/>
            <a:ext cx="2633472" cy="41309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8680" y="2468880"/>
            <a:ext cx="10469880" cy="87782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600" b="1">
                <a:solidFill>
                  <a:srgbClr val="1C345B"/>
                </a:solidFill>
                <a:latin typeface="Microsoft YaHei"/>
                <a:ea typeface="Microsoft YaHei"/>
                <a:cs typeface="Microsoft YaHei"/>
              </a:rPr>
              <a:t>谢谢大家</a:t>
            </a:r>
          </a:p>
        </p:txBody>
      </p:sp>
      <p:sp>
        <p:nvSpPr>
          <p:cNvPr id="6" name="Rectangle 5"/>
          <p:cNvSpPr/>
          <p:nvPr/>
        </p:nvSpPr>
        <p:spPr>
          <a:xfrm>
            <a:off x="4069080" y="3547872"/>
            <a:ext cx="4069080" cy="45720"/>
          </a:xfrm>
          <a:prstGeom prst="rect">
            <a:avLst/>
          </a:prstGeom>
          <a:solidFill>
            <a:srgbClr val="F0C9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931920"/>
            <a:ext cx="10469880" cy="34747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50" b="1">
                <a:solidFill>
                  <a:srgbClr val="1C345B"/>
                </a:solidFill>
                <a:latin typeface="Microsoft YaHei"/>
                <a:ea typeface="Microsoft YaHei"/>
                <a:cs typeface="Microsoft YaHei"/>
              </a:rPr>
              <a:t>汇报人：XXX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355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84280" y="6473952"/>
            <a:ext cx="384048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800" b="0">
                <a:solidFill>
                  <a:srgbClr val="636B74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BNU academic report PPT skill template</dc:title>
  <dc:subject>Anonymized public skill template</dc:subject>
  <dc:creator>XXX</dc:creator>
  <cp:keywords/>
  <dc:description>Public anonymized template. Replace XXX with presenter information in generated decks.</dc:description>
  <cp:lastModifiedBy>XXX</cp:lastModifiedBy>
  <cp:revision>1</cp:revision>
  <dcterms:created xsi:type="dcterms:W3CDTF">2013-01-27T09:14:16Z</dcterms:created>
  <dcterms:modified xsi:type="dcterms:W3CDTF">2013-01-27T09:15:58Z</dcterms:modified>
  <cp:category/>
</cp:coreProperties>
</file>